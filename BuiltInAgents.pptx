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147483521" r:id="rId2"/>
    <p:sldId id="2147483515" r:id="rId3"/>
    <p:sldId id="2147483499" r:id="rId4"/>
    <p:sldId id="2147483489" r:id="rId5"/>
    <p:sldId id="2147483490" r:id="rId6"/>
    <p:sldId id="2147483491" r:id="rId7"/>
    <p:sldId id="2147483492" r:id="rId8"/>
    <p:sldId id="214748349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CBF974D-5A96-4E0D-85FD-4193BCA8514A}" v="1" dt="2026-09-23T16:38:10.6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96" y="1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Mishal" userId="b5ad6c1f-f1c5-40da-b9d5-acdf7da7600c" providerId="ADAL" clId="{F2F77F99-8063-4041-8199-9E763D7B32B8}"/>
    <pc:docChg chg="custSel addSld modSld">
      <pc:chgData name="Michael Mishal" userId="b5ad6c1f-f1c5-40da-b9d5-acdf7da7600c" providerId="ADAL" clId="{F2F77F99-8063-4041-8199-9E763D7B32B8}" dt="2026-09-23T16:38:10.751" v="6" actId="27636"/>
      <pc:docMkLst>
        <pc:docMk/>
      </pc:docMkLst>
      <pc:sldChg chg="modSp add mod">
        <pc:chgData name="Michael Mishal" userId="b5ad6c1f-f1c5-40da-b9d5-acdf7da7600c" providerId="ADAL" clId="{F2F77F99-8063-4041-8199-9E763D7B32B8}" dt="2026-09-23T16:38:10.721" v="2" actId="27636"/>
        <pc:sldMkLst>
          <pc:docMk/>
          <pc:sldMk cId="813465910" sldId="2147483489"/>
        </pc:sldMkLst>
        <pc:spChg chg="mod">
          <ac:chgData name="Michael Mishal" userId="b5ad6c1f-f1c5-40da-b9d5-acdf7da7600c" providerId="ADAL" clId="{F2F77F99-8063-4041-8199-9E763D7B32B8}" dt="2026-09-23T16:38:10.721" v="2" actId="27636"/>
          <ac:spMkLst>
            <pc:docMk/>
            <pc:sldMk cId="813465910" sldId="2147483489"/>
            <ac:spMk id="12" creationId="{1FEEE56D-ACA0-84AD-A8CF-23026D1E7357}"/>
          </ac:spMkLst>
        </pc:spChg>
      </pc:sldChg>
      <pc:sldChg chg="modSp add mod">
        <pc:chgData name="Michael Mishal" userId="b5ad6c1f-f1c5-40da-b9d5-acdf7da7600c" providerId="ADAL" clId="{F2F77F99-8063-4041-8199-9E763D7B32B8}" dt="2026-09-23T16:38:10.729" v="3" actId="27636"/>
        <pc:sldMkLst>
          <pc:docMk/>
          <pc:sldMk cId="1722032785" sldId="2147483490"/>
        </pc:sldMkLst>
        <pc:spChg chg="mod">
          <ac:chgData name="Michael Mishal" userId="b5ad6c1f-f1c5-40da-b9d5-acdf7da7600c" providerId="ADAL" clId="{F2F77F99-8063-4041-8199-9E763D7B32B8}" dt="2026-09-23T16:38:10.729" v="3" actId="27636"/>
          <ac:spMkLst>
            <pc:docMk/>
            <pc:sldMk cId="1722032785" sldId="2147483490"/>
            <ac:spMk id="12" creationId="{7D75C71C-A481-BB34-4EEF-299577090215}"/>
          </ac:spMkLst>
        </pc:spChg>
      </pc:sldChg>
      <pc:sldChg chg="modSp add mod">
        <pc:chgData name="Michael Mishal" userId="b5ad6c1f-f1c5-40da-b9d5-acdf7da7600c" providerId="ADAL" clId="{F2F77F99-8063-4041-8199-9E763D7B32B8}" dt="2026-09-23T16:38:10.740" v="4" actId="27636"/>
        <pc:sldMkLst>
          <pc:docMk/>
          <pc:sldMk cId="2359551839" sldId="2147483491"/>
        </pc:sldMkLst>
        <pc:spChg chg="mod">
          <ac:chgData name="Michael Mishal" userId="b5ad6c1f-f1c5-40da-b9d5-acdf7da7600c" providerId="ADAL" clId="{F2F77F99-8063-4041-8199-9E763D7B32B8}" dt="2026-09-23T16:38:10.740" v="4" actId="27636"/>
          <ac:spMkLst>
            <pc:docMk/>
            <pc:sldMk cId="2359551839" sldId="2147483491"/>
            <ac:spMk id="12" creationId="{A419E64C-5C9F-E5ED-D67F-B8274E056945}"/>
          </ac:spMkLst>
        </pc:spChg>
      </pc:sldChg>
      <pc:sldChg chg="modSp add mod">
        <pc:chgData name="Michael Mishal" userId="b5ad6c1f-f1c5-40da-b9d5-acdf7da7600c" providerId="ADAL" clId="{F2F77F99-8063-4041-8199-9E763D7B32B8}" dt="2026-09-23T16:38:10.746" v="5" actId="27636"/>
        <pc:sldMkLst>
          <pc:docMk/>
          <pc:sldMk cId="734375370" sldId="2147483492"/>
        </pc:sldMkLst>
        <pc:spChg chg="mod">
          <ac:chgData name="Michael Mishal" userId="b5ad6c1f-f1c5-40da-b9d5-acdf7da7600c" providerId="ADAL" clId="{F2F77F99-8063-4041-8199-9E763D7B32B8}" dt="2026-09-23T16:38:10.746" v="5" actId="27636"/>
          <ac:spMkLst>
            <pc:docMk/>
            <pc:sldMk cId="734375370" sldId="2147483492"/>
            <ac:spMk id="12" creationId="{BAF665F4-BEFF-FACD-28EF-1785F4F79263}"/>
          </ac:spMkLst>
        </pc:spChg>
      </pc:sldChg>
      <pc:sldChg chg="modSp add mod">
        <pc:chgData name="Michael Mishal" userId="b5ad6c1f-f1c5-40da-b9d5-acdf7da7600c" providerId="ADAL" clId="{F2F77F99-8063-4041-8199-9E763D7B32B8}" dt="2026-09-23T16:38:10.751" v="6" actId="27636"/>
        <pc:sldMkLst>
          <pc:docMk/>
          <pc:sldMk cId="2886200970" sldId="2147483493"/>
        </pc:sldMkLst>
        <pc:spChg chg="mod">
          <ac:chgData name="Michael Mishal" userId="b5ad6c1f-f1c5-40da-b9d5-acdf7da7600c" providerId="ADAL" clId="{F2F77F99-8063-4041-8199-9E763D7B32B8}" dt="2026-09-23T16:38:10.751" v="6" actId="27636"/>
          <ac:spMkLst>
            <pc:docMk/>
            <pc:sldMk cId="2886200970" sldId="2147483493"/>
            <ac:spMk id="12" creationId="{2BFBF1EA-126A-1278-9610-7998223820B9}"/>
          </ac:spMkLst>
        </pc:spChg>
      </pc:sldChg>
      <pc:sldChg chg="modSp add mod">
        <pc:chgData name="Michael Mishal" userId="b5ad6c1f-f1c5-40da-b9d5-acdf7da7600c" providerId="ADAL" clId="{F2F77F99-8063-4041-8199-9E763D7B32B8}" dt="2026-09-23T16:38:10.709" v="1" actId="27636"/>
        <pc:sldMkLst>
          <pc:docMk/>
          <pc:sldMk cId="670608228" sldId="2147483499"/>
        </pc:sldMkLst>
        <pc:spChg chg="mod">
          <ac:chgData name="Michael Mishal" userId="b5ad6c1f-f1c5-40da-b9d5-acdf7da7600c" providerId="ADAL" clId="{F2F77F99-8063-4041-8199-9E763D7B32B8}" dt="2026-09-23T16:38:10.709" v="1" actId="27636"/>
          <ac:spMkLst>
            <pc:docMk/>
            <pc:sldMk cId="670608228" sldId="2147483499"/>
            <ac:spMk id="12" creationId="{E3341F4A-0E06-1F4E-B0F3-09F427C46FED}"/>
          </ac:spMkLst>
        </pc:spChg>
      </pc:sldChg>
      <pc:sldChg chg="add">
        <pc:chgData name="Michael Mishal" userId="b5ad6c1f-f1c5-40da-b9d5-acdf7da7600c" providerId="ADAL" clId="{F2F77F99-8063-4041-8199-9E763D7B32B8}" dt="2026-09-23T16:38:10.553" v="0"/>
        <pc:sldMkLst>
          <pc:docMk/>
          <pc:sldMk cId="1813525554" sldId="2147483515"/>
        </pc:sldMkLst>
      </pc:sldChg>
      <pc:sldChg chg="add">
        <pc:chgData name="Michael Mishal" userId="b5ad6c1f-f1c5-40da-b9d5-acdf7da7600c" providerId="ADAL" clId="{F2F77F99-8063-4041-8199-9E763D7B32B8}" dt="2026-09-23T16:38:10.553" v="0"/>
        <pc:sldMkLst>
          <pc:docMk/>
          <pc:sldMk cId="3707703997" sldId="2147483521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6383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499.98471" units="1/in"/>
          <inkml:channelProperty channel="T" name="resolution" value="1" units="1/dev"/>
        </inkml:channelProperties>
      </inkml:inkSource>
      <inkml:timestamp xml:id="ts0" timeString="2026-08-11T19:24:02.942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9843 12084 1060 0,'0'0'637'0,"0"0"-75"0,0 0 13 0,0 0-102 0,0 0-37 0,0 0-43 0,0 0 20 16,0 0 13-16,0 0 16 0,0 0 12 0,0 0 12 16,0 0-9-16,0 0-5 0,0 0-8 15,0 0-3-15,0 0-21 0,3-6-35 0,1 2-33 16,1 1-44-16,-1 0-41 0,5-1-31 16,-2 1-64-16,5-3-54 0,4-1-83 15,2-3-122-15,2-4-175 0,7-3-288 0,8-5-506 16,3-6-531-16,8-6-993 0,6-9-1714 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D32F66-1EAA-4889-8141-2D263F516EF6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5CAE3C-2E56-4621-970A-CA891F74A8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6361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18E3A-615D-22F5-645B-E63FA3CDE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6DE06E-90A5-2BF7-3E4E-8CC7776AA6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B62E89-3BB3-F115-485D-1C1A55DE92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1"/>
              <a:t>Slide purpose: Transition to the discussion on our approach to skill-building, classroom norms and engagement, learner intros, different learning styles, and basic Teams features. </a:t>
            </a:r>
          </a:p>
          <a:p>
            <a:endParaRPr lang="en-US"/>
          </a:p>
          <a:p>
            <a:r>
              <a:rPr lang="en-US"/>
              <a:t>You’re investing a significant amount of your time in the course this week, so let’s take a few minutes to help you get the most out of this experience.</a:t>
            </a:r>
          </a:p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5ACFFCC5-35A2-3650-173C-FCF528A84EC9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B9DC26-0C52-467D-16BA-2E636AD2AEC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2693E6C-9A21-9646-149A-0595CF865734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9/23/2026 12:38 PM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9C0487-B968-434C-4ABF-70D2784FBD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0389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77AF4-F08F-73DA-D495-E3C2ECC40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D1F14E-E585-1C34-E2F6-D5BA19AC5B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A0B4B9-74D4-19A3-CD0E-B31608B509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Trainer Notes</a:t>
            </a:r>
          </a:p>
          <a:p>
            <a:endParaRPr lang="en-US" b="1"/>
          </a:p>
          <a:p>
            <a:r>
              <a:rPr lang="en-US" b="1"/>
              <a:t>Introduce pre-built agents</a:t>
            </a:r>
            <a:br>
              <a:rPr lang="en-US"/>
            </a:br>
            <a:r>
              <a:rPr lang="en-US"/>
              <a:t>Explain that Microsoft 365 includes a growing set of pre-built agents that are ready to use immediately—no setup, development, or integration required.</a:t>
            </a:r>
          </a:p>
          <a:p>
            <a:endParaRPr lang="en-US"/>
          </a:p>
          <a:p>
            <a:r>
              <a:rPr lang="en-US" b="1"/>
              <a:t>Reinforce “day one value”</a:t>
            </a:r>
            <a:br>
              <a:rPr lang="en-US"/>
            </a:br>
            <a:r>
              <a:rPr lang="en-US"/>
              <a:t>These agents are designed to deliver value right away, allowing users to experience agent-led work without needing custom solutions or technical expertise.</a:t>
            </a:r>
          </a:p>
          <a:p>
            <a:endParaRPr lang="en-US"/>
          </a:p>
          <a:p>
            <a:r>
              <a:rPr lang="en-US" b="1"/>
              <a:t>Highlight governance and trust</a:t>
            </a:r>
            <a:br>
              <a:rPr lang="en-US"/>
            </a:br>
            <a:r>
              <a:rPr lang="en-US"/>
              <a:t>Emphasize that these are first-party Microsoft solutions, meaning they operate within existing Microsoft 365 security, compliance, and governance controls.</a:t>
            </a:r>
          </a:p>
          <a:p>
            <a:endParaRPr lang="en-US"/>
          </a:p>
          <a:p>
            <a:r>
              <a:rPr lang="en-US" b="1"/>
              <a:t>Walk through the key benefits</a:t>
            </a:r>
            <a:endParaRPr lang="en-US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/>
              <a:t>Embedded</a:t>
            </a:r>
            <a:br>
              <a:rPr lang="en-US"/>
            </a:br>
            <a:r>
              <a:rPr lang="en-US"/>
              <a:t>Agents are integrated directly into the apps users already work in, making adoption seamless.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/>
              <a:t>Differentiated</a:t>
            </a:r>
            <a:br>
              <a:rPr lang="en-US"/>
            </a:br>
            <a:r>
              <a:rPr lang="en-US"/>
              <a:t>They bring specialized, task-specific capabilities that go beyond general AI chat—often handling multi-step workflows.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/>
              <a:t>Instant</a:t>
            </a:r>
            <a:br>
              <a:rPr lang="en-US"/>
            </a:br>
            <a:r>
              <a:rPr lang="en-US"/>
              <a:t>No build or configuration required—users can start using them immediately.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/>
              <a:t>Trusted</a:t>
            </a:r>
            <a:br>
              <a:rPr lang="en-US"/>
            </a:br>
            <a:r>
              <a:rPr lang="en-US"/>
              <a:t>Built on Microsoft’s enterprise-grade security and compliance foundation.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/>
              <a:t>Accelerated</a:t>
            </a:r>
            <a:br>
              <a:rPr lang="en-US"/>
            </a:br>
            <a:r>
              <a:rPr lang="en-US"/>
              <a:t>Provide a fast, low-risk way to get started with agents before moving into custom or more advanced scenarios.</a:t>
            </a:r>
          </a:p>
          <a:p>
            <a:endParaRPr lang="en-US" sz="1200"/>
          </a:p>
          <a:p>
            <a:endParaRPr lang="en-US" sz="1200"/>
          </a:p>
          <a:p>
            <a:r>
              <a:rPr lang="en-US" sz="1200"/>
              <a:t>https://learn.microsoft.com/en-us/training/modules/get-started-no-code-copilot-agents-sharepoint/4-explore-benefits-agents</a:t>
            </a:r>
          </a:p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B2ECA74F-D797-3385-3705-5C10DD5ECE3A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1CC793-C64F-7747-2BFA-273B69A0DC7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099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6F9ED49-F81B-8D38-04B9-A4856B41F70A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BCC5A8-CB9F-4C18-83E3-C4C0838CF210}" type="datetime8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9/23/2026 12:38 PM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36E404-3E71-B050-D872-FA548ECB66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90773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100C6-8258-F24E-4FC8-20E901BA1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20241B-69B3-310E-5C0B-F2F2E63CE6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036D8C-BB1D-444B-AD49-A0E5B60872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Trainer Notes</a:t>
            </a:r>
          </a:p>
          <a:p>
            <a:endParaRPr lang="en-US"/>
          </a:p>
          <a:p>
            <a:r>
              <a:rPr lang="en-US" b="1"/>
              <a:t>Provide an overview of the available agents</a:t>
            </a:r>
          </a:p>
          <a:p>
            <a:endParaRPr lang="en-US"/>
          </a:p>
          <a:p>
            <a:r>
              <a:rPr lang="en-US"/>
              <a:t>This slide introduces several of the prebuilt agents that Microsoft provides with Microsoft 365 Copilot.</a:t>
            </a:r>
          </a:p>
          <a:p>
            <a:endParaRPr lang="en-US"/>
          </a:p>
          <a:p>
            <a:r>
              <a:rPr lang="en-US"/>
              <a:t>Examples include: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Researcher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Analyst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Idea Coach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Prompt Coach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Writing Coach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Career Coach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Learning Coach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/>
          </a:p>
          <a:p>
            <a:r>
              <a:rPr lang="en-US"/>
              <a:t>Each agent is designed to specialize in a particular type of task or workflow.</a:t>
            </a:r>
          </a:p>
          <a:p>
            <a:br>
              <a:rPr lang="en-US"/>
            </a:br>
            <a:endParaRPr lang="en-US"/>
          </a:p>
          <a:p>
            <a:r>
              <a:rPr lang="en-US" b="1"/>
              <a:t>Explain the value of specialization</a:t>
            </a:r>
          </a:p>
          <a:p>
            <a:endParaRPr lang="en-US"/>
          </a:p>
          <a:p>
            <a:r>
              <a:rPr lang="en-US"/>
              <a:t>While Copilot can assist with many types of tasks, these agents provide </a:t>
            </a:r>
            <a:r>
              <a:rPr lang="en-US" b="1"/>
              <a:t>more focused capabilities</a:t>
            </a:r>
            <a:r>
              <a:rPr lang="en-US"/>
              <a:t> tailored to specific needs.</a:t>
            </a:r>
          </a:p>
          <a:p>
            <a:endParaRPr lang="en-US"/>
          </a:p>
          <a:p>
            <a:r>
              <a:rPr lang="en-US"/>
              <a:t>For example: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Some agents focus on </a:t>
            </a:r>
            <a:r>
              <a:rPr lang="en-US" b="1"/>
              <a:t>information and analysis</a:t>
            </a:r>
            <a:endParaRPr lang="en-US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Others help with </a:t>
            </a:r>
            <a:r>
              <a:rPr lang="en-US" b="1"/>
              <a:t>communication and writing</a:t>
            </a:r>
            <a:endParaRPr lang="en-US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Others help with </a:t>
            </a:r>
            <a:r>
              <a:rPr lang="en-US" b="1"/>
              <a:t>planning, learning, or idea development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/>
          </a:p>
          <a:p>
            <a:r>
              <a:rPr lang="en-US"/>
              <a:t>This specialization helps users get more structured and targeted responses.</a:t>
            </a:r>
          </a:p>
          <a:p>
            <a:pPr marL="0" marR="0" lvl="0" indent="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None/>
              <a:tabLst>
                <a:tab pos="457200" algn="l"/>
              </a:tabLst>
            </a:pPr>
            <a:endParaRPr lang="en-US" sz="18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A9DA45D5-482B-55E0-BA88-9E7D7128F826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8A7941-A308-6CE5-58C8-9159A5D8943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099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B5A5D26-EBE4-C067-392C-23CE76BCF482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BCC5A8-CB9F-4C18-83E3-C4C0838CF210}" type="datetime8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9/23/2026 12:38 PM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49776F-4CAB-E754-20A6-F4D55E30D7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05626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31A51-E2D9-C707-0CE6-5727BBA80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F9A407-D17B-69C2-5239-B11036483E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97CC46-8167-9133-B8F1-C1F3FF4F26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Trainer Notes</a:t>
            </a:r>
          </a:p>
          <a:p>
            <a:endParaRPr lang="en-US"/>
          </a:p>
          <a:p>
            <a:r>
              <a:rPr lang="en-US" b="1"/>
              <a:t>Introduce the Researcher agent</a:t>
            </a:r>
            <a:endParaRPr lang="en-US"/>
          </a:p>
          <a:p>
            <a:r>
              <a:rPr lang="en-US"/>
              <a:t>Explain that the Researcher agent is designed to help users perform </a:t>
            </a:r>
            <a:r>
              <a:rPr lang="en-US" b="1"/>
              <a:t>deep research and gather information from multiple sources</a:t>
            </a:r>
            <a:r>
              <a:rPr lang="en-US"/>
              <a:t>.</a:t>
            </a:r>
          </a:p>
          <a:p>
            <a:endParaRPr lang="en-US"/>
          </a:p>
          <a:p>
            <a:r>
              <a:rPr lang="en-US"/>
              <a:t>It can analyze information from both the web and the user’s work content to generate structured insights and summaries. </a:t>
            </a:r>
            <a:br>
              <a:rPr lang="en-US"/>
            </a:br>
            <a:endParaRPr lang="en-US"/>
          </a:p>
          <a:p>
            <a:r>
              <a:rPr lang="en-US" b="1"/>
              <a:t>Explain how it differs from normal Copilot chat</a:t>
            </a:r>
          </a:p>
          <a:p>
            <a:endParaRPr lang="en-US"/>
          </a:p>
          <a:p>
            <a:r>
              <a:rPr lang="en-US"/>
              <a:t>Standard Copilot chat is typically used for quick questions or simple summaries.</a:t>
            </a:r>
          </a:p>
          <a:p>
            <a:endParaRPr lang="en-US"/>
          </a:p>
          <a:p>
            <a:r>
              <a:rPr lang="en-US"/>
              <a:t>Researcher is optimized for </a:t>
            </a:r>
            <a:r>
              <a:rPr lang="en-US" b="1"/>
              <a:t>multi-step research tasks</a:t>
            </a:r>
            <a:r>
              <a:rPr lang="en-US"/>
              <a:t> that require deeper analysis, synthesis, and explanation.</a:t>
            </a:r>
          </a:p>
          <a:p>
            <a:r>
              <a:rPr lang="en-US"/>
              <a:t>It may take longer to generate responses because it performs more extensive reasoning and information gathering.</a:t>
            </a:r>
            <a:br>
              <a:rPr lang="en-US"/>
            </a:br>
            <a:endParaRPr lang="en-US"/>
          </a:p>
          <a:p>
            <a:r>
              <a:rPr lang="en-US" b="1"/>
              <a:t>Highlight common use cases</a:t>
            </a:r>
            <a:endParaRPr lang="en-US"/>
          </a:p>
          <a:p>
            <a:r>
              <a:rPr lang="en-US"/>
              <a:t>Examples of tasks the Researcher agent can assist with include: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Summarizing large documents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Gathering background information on a topic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Comparing trends or technologies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Producing structured reports with sources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r>
              <a:rPr lang="en-US"/>
              <a:t>Because the output often includes structured sections, summaries, and citations, it can be useful when preparing reports or presentations.</a:t>
            </a:r>
            <a:br>
              <a:rPr lang="en-US"/>
            </a:br>
            <a:endParaRPr lang="en-US"/>
          </a:p>
          <a:p>
            <a:r>
              <a:rPr lang="en-US" b="1"/>
              <a:t>Tip for instructors</a:t>
            </a:r>
            <a:endParaRPr lang="en-US"/>
          </a:p>
          <a:p>
            <a:r>
              <a:rPr lang="en-US"/>
              <a:t>Remind participants that Researcher may ask follow-up questions before generating a final response. These clarifications help the agent produce a more targeted report.</a:t>
            </a:r>
          </a:p>
          <a:p>
            <a:endParaRPr lang="en-US"/>
          </a:p>
          <a:p>
            <a:r>
              <a:rPr lang="en-US"/>
              <a:t>https://learn.microsoft.com/en-us/copilot/microsoft-365/researcher-agent</a:t>
            </a:r>
          </a:p>
          <a:p>
            <a:endParaRPr lang="en-US"/>
          </a:p>
          <a:p>
            <a:pPr marL="0" marR="0" lvl="0" indent="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None/>
              <a:tabLst>
                <a:tab pos="457200" algn="l"/>
              </a:tabLst>
            </a:pPr>
            <a:r>
              <a:rPr lang="en-US" sz="1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https://learn.microsoft.com/en-us/training/modules/explore-prebuilt-microsoft-365-copilot-agents/4-examine-researcher-agent</a:t>
            </a:r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BA71FA0C-5078-F961-FAF7-EBBC1A243DB5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BDC190-1240-B41F-FD8C-4E60CCEB23F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099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02CE774-E747-4097-A44B-C5581788A7D9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BCC5A8-CB9F-4C18-83E3-C4C0838CF210}" type="datetime8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9/23/2026 12:38 PM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625D52-177A-9FE9-0A17-B7BACC8FFE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4613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D46BF-8AA2-F978-7344-B2C93ECA3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52D0FB-B8C5-896C-F1B6-F4FA639DE3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2B577B-C041-FF26-EAFB-52BB204819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Trainer Notes</a:t>
            </a:r>
          </a:p>
          <a:p>
            <a:endParaRPr lang="en-US"/>
          </a:p>
          <a:p>
            <a:r>
              <a:rPr lang="en-US" b="1"/>
              <a:t>Introduce the Analyst agent</a:t>
            </a:r>
            <a:endParaRPr lang="en-US"/>
          </a:p>
          <a:p>
            <a:r>
              <a:rPr lang="en-US"/>
              <a:t>The Analyst agent focuses on </a:t>
            </a:r>
            <a:r>
              <a:rPr lang="en-US" b="1"/>
              <a:t>data interpretation and analysis</a:t>
            </a:r>
            <a:r>
              <a:rPr lang="en-US"/>
              <a:t>.</a:t>
            </a:r>
          </a:p>
          <a:p>
            <a:endParaRPr lang="en-US"/>
          </a:p>
          <a:p>
            <a:r>
              <a:rPr lang="en-US"/>
              <a:t>It helps users transform raw data into insights, charts, and summaries that support decision-making. </a:t>
            </a:r>
          </a:p>
          <a:p>
            <a:endParaRPr lang="en-US"/>
          </a:p>
          <a:p>
            <a:r>
              <a:rPr lang="en-US" b="1"/>
              <a:t>Explain how it works</a:t>
            </a:r>
            <a:endParaRPr lang="en-US"/>
          </a:p>
          <a:p>
            <a:r>
              <a:rPr lang="en-US"/>
              <a:t>The Analyst agent can review structured information from files such as spreadsheets, documents, or dashboards and identify patterns, trends, or anomalies.</a:t>
            </a:r>
          </a:p>
          <a:p>
            <a:endParaRPr lang="en-US"/>
          </a:p>
          <a:p>
            <a:r>
              <a:rPr lang="en-US"/>
              <a:t>It can also generate visualizations and explain the reasoning behind those insights.</a:t>
            </a:r>
            <a:br>
              <a:rPr lang="en-US"/>
            </a:br>
            <a:endParaRPr lang="en-US"/>
          </a:p>
          <a:p>
            <a:r>
              <a:rPr lang="en-US" b="1"/>
              <a:t>Highlight capabilities</a:t>
            </a:r>
            <a:endParaRPr lang="en-US"/>
          </a:p>
          <a:p>
            <a:r>
              <a:rPr lang="en-US"/>
              <a:t>Examples of what Analyst can help with include: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Interpreting financial or operational data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Identifying trends across datasets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Creating charts and visual summaries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Explaining findings in clear language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/>
          </a:p>
          <a:p>
            <a:r>
              <a:rPr lang="en-US"/>
              <a:t>In some scenarios, it may even generate the code used to perform certain calculations or visualizations.</a:t>
            </a:r>
            <a:br>
              <a:rPr lang="en-US"/>
            </a:br>
            <a:endParaRPr lang="en-US"/>
          </a:p>
          <a:p>
            <a:r>
              <a:rPr lang="en-US" b="1"/>
              <a:t>Key takeaway</a:t>
            </a:r>
            <a:endParaRPr lang="en-US"/>
          </a:p>
          <a:p>
            <a:r>
              <a:rPr lang="en-US"/>
              <a:t>Analyst acts like a data analyst working alongside you - helping turn complex data into clear insights that can support business decisions.</a:t>
            </a:r>
          </a:p>
          <a:p>
            <a:pPr marL="0" marR="0" lvl="0" indent="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None/>
              <a:tabLst>
                <a:tab pos="457200" algn="l"/>
              </a:tabLst>
            </a:pPr>
            <a:endParaRPr lang="en-US" sz="18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lvl="0" indent="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None/>
              <a:tabLst>
                <a:tab pos="457200" algn="l"/>
              </a:tabLst>
            </a:pPr>
            <a:r>
              <a:rPr lang="en-US" sz="1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https://learn.microsoft.com/en-us/training/modules/explore-prebuilt-microsoft-365-copilot-agents/3-exercise-analyst-agent</a:t>
            </a:r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05A4BF9F-C16A-7C58-A380-026180FA5FF2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4BFBF9-7BEB-1190-2B7F-B50C9B0C41C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099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0C84A07-C53D-0E19-27AE-FA25F8A4304D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BCC5A8-CB9F-4C18-83E3-C4C0838CF210}" type="datetime8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9/23/2026 12:38 PM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6479A3-2351-5103-0C60-22FBBF39C0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88334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314FE-0A95-9597-0B61-185489E3B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AE75DA-1A4F-3702-BACA-3859EA5FE6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861038-AF2D-3CA2-66EE-F348365573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Trainer Notes</a:t>
            </a:r>
          </a:p>
          <a:p>
            <a:endParaRPr lang="en-US"/>
          </a:p>
          <a:p>
            <a:r>
              <a:rPr lang="en-US" b="1"/>
              <a:t>Introduce the Prompt Coach</a:t>
            </a:r>
          </a:p>
          <a:p>
            <a:endParaRPr lang="en-US"/>
          </a:p>
          <a:p>
            <a:r>
              <a:rPr lang="en-US"/>
              <a:t>Prompt Coach focuses on helping users </a:t>
            </a:r>
            <a:r>
              <a:rPr lang="en-US" b="1"/>
              <a:t>write more effective prompts</a:t>
            </a:r>
            <a:r>
              <a:rPr lang="en-US"/>
              <a:t> when interacting with Copilot.</a:t>
            </a:r>
          </a:p>
          <a:p>
            <a:r>
              <a:rPr lang="en-US"/>
              <a:t>Good prompts often lead to more useful responses.</a:t>
            </a:r>
          </a:p>
          <a:p>
            <a:br>
              <a:rPr lang="en-US"/>
            </a:br>
            <a:endParaRPr lang="en-US"/>
          </a:p>
          <a:p>
            <a:r>
              <a:rPr lang="en-US" b="1"/>
              <a:t>Explain how it helps improve prompts</a:t>
            </a:r>
          </a:p>
          <a:p>
            <a:endParaRPr lang="en-US"/>
          </a:p>
          <a:p>
            <a:r>
              <a:rPr lang="en-US"/>
              <a:t>Prompt Coach can: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Refine vague prompts into clearer instructions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Suggest additional context or details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Provide examples tailored to specific tasks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Help troubleshoot prompts that are not producing the expected results</a:t>
            </a:r>
          </a:p>
          <a:p>
            <a:br>
              <a:rPr lang="en-US"/>
            </a:br>
            <a:endParaRPr lang="en-US"/>
          </a:p>
          <a:p>
            <a:r>
              <a:rPr lang="en-US" b="1"/>
              <a:t>Highlight the long-term benefit</a:t>
            </a:r>
          </a:p>
          <a:p>
            <a:endParaRPr lang="en-US"/>
          </a:p>
          <a:p>
            <a:r>
              <a:rPr lang="en-US"/>
              <a:t>By working with Prompt Coach, users gradually learn how to structure their prompts more effectively.</a:t>
            </a:r>
          </a:p>
          <a:p>
            <a:endParaRPr lang="en-US"/>
          </a:p>
          <a:p>
            <a:r>
              <a:rPr lang="en-US"/>
              <a:t>Over time, this improves the quality and usefulness of responses they receive from Copilot across many different scenarios.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https://learn.microsoft.com/en-us/training/modules/explore-prebuilt-microsoft-365-copilot-agents/7-examine-prompt-coach-agent</a:t>
            </a:r>
            <a:endParaRPr lang="en-US" sz="18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4ABC8640-CCD1-6130-F3A8-75F80506B37D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104D5B-54E5-E9E1-4A58-E3B0426D906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099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D71FA62-11B5-BFD5-CBAC-C4B9B0F231A2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BCC5A8-CB9F-4C18-83E3-C4C0838CF210}" type="datetime8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9/23/2026 12:38 PM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166144-D821-A72A-0556-653B50BC63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59980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AE35A-1A03-6D75-ACE9-59BB30C5A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32B201-B1F8-1332-B08E-C5B1CFC591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E2045C-0880-CEC2-DAE8-EDC0C7DA91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b="1"/>
              <a:t>Trainer Notes</a:t>
            </a:r>
          </a:p>
          <a:p>
            <a:endParaRPr lang="en-US" sz="1800"/>
          </a:p>
          <a:p>
            <a:r>
              <a:rPr lang="en-US" sz="1800" b="1"/>
              <a:t>Introduce the Idea Coach</a:t>
            </a:r>
            <a:endParaRPr lang="en-US" sz="1800"/>
          </a:p>
          <a:p>
            <a:r>
              <a:rPr lang="en-US" sz="1800"/>
              <a:t>The Idea Coach agent acts as a </a:t>
            </a:r>
            <a:r>
              <a:rPr lang="en-US" sz="1800" b="1"/>
              <a:t>creative sounding board</a:t>
            </a:r>
            <a:r>
              <a:rPr lang="en-US" sz="1800"/>
              <a:t> to help users develop and strengthen ideas.</a:t>
            </a:r>
          </a:p>
          <a:p>
            <a:endParaRPr lang="en-US" sz="1800"/>
          </a:p>
          <a:p>
            <a:r>
              <a:rPr lang="en-US" sz="1800"/>
              <a:t>Rather than simply agreeing with a proposal, the agent evaluates the idea from multiple perspectives.</a:t>
            </a:r>
          </a:p>
          <a:p>
            <a:endParaRPr lang="en-US" sz="1800"/>
          </a:p>
          <a:p>
            <a:r>
              <a:rPr lang="en-US" sz="1800" b="1"/>
              <a:t>Explain how it supports idea development</a:t>
            </a:r>
            <a:endParaRPr lang="en-US" sz="1800"/>
          </a:p>
          <a:p>
            <a:r>
              <a:rPr lang="en-US" sz="1800"/>
              <a:t>Idea Coach helps users: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/>
              <a:t>Expand early-stage ideas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/>
              <a:t>Explore alternative approaches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/>
              <a:t>Identify risks or gaps in a proposal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/>
              <a:t>Refine messaging to improve clarity and impact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/>
          </a:p>
          <a:p>
            <a:r>
              <a:rPr lang="en-US" sz="1800"/>
              <a:t>This can be especially useful during brainstorming or planning activities.</a:t>
            </a:r>
          </a:p>
          <a:p>
            <a:endParaRPr lang="en-US" sz="1800"/>
          </a:p>
          <a:p>
            <a:r>
              <a:rPr lang="en-US" sz="1800" b="1"/>
              <a:t>Provide examples of when to use it</a:t>
            </a:r>
          </a:p>
          <a:p>
            <a:endParaRPr lang="en-US" sz="1800"/>
          </a:p>
          <a:p>
            <a:r>
              <a:rPr lang="en-US" sz="1800"/>
              <a:t>Common scenarios include: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/>
              <a:t>Developing new initiatives or campaigns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/>
              <a:t>Evaluating proposals or strategies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/>
              <a:t>Stress-testing business ideas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/>
              <a:t>Refining project concepts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/>
          </a:p>
          <a:p>
            <a:r>
              <a:rPr lang="en-US" sz="1800"/>
              <a:t>The goal is to help transform rough ideas into more actionable plans.</a:t>
            </a:r>
            <a:endParaRPr lang="en-US" sz="18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lvl="0" indent="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None/>
              <a:tabLst>
                <a:tab pos="457200" algn="l"/>
              </a:tabLst>
            </a:pPr>
            <a:endParaRPr lang="en-US" sz="18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lvl="0" indent="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None/>
              <a:tabLst>
                <a:tab pos="457200" algn="l"/>
              </a:tabLst>
            </a:pPr>
            <a:r>
              <a:rPr lang="en-US" sz="1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https://learn.microsoft.com/en-us/training/modules/explore-prebuilt-microsoft-365-copilot-agents/8-examine-idea-coach-agent</a:t>
            </a:r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4F1F273B-EC27-BA92-9F05-D4F1F57CC91C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924295-4E5B-606E-3B34-2E2E7690578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099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456AB5B-FBC4-0FCC-9553-DAFBB5BCFA3D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BCC5A8-CB9F-4C18-83E3-C4C0838CF210}" type="datetime8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9/23/2026 12:38 PM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0FD0B2-A906-6F73-BEA1-B14495C851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39148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14606-52D2-9974-8627-2FA0C7C37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8149FD-4028-8791-912F-F32E9907BF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02E22E-0355-CFB2-CB0C-C3394A9E1C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Introduce the Writing Coach</a:t>
            </a:r>
            <a:endParaRPr lang="en-US"/>
          </a:p>
          <a:p>
            <a:r>
              <a:rPr lang="en-US"/>
              <a:t>The Writing Coach agent helps users improve the clarity, tone, and effectiveness of written communication.</a:t>
            </a:r>
          </a:p>
          <a:p>
            <a:endParaRPr lang="en-US"/>
          </a:p>
          <a:p>
            <a:r>
              <a:rPr lang="en-US"/>
              <a:t>This can include emails, reports, presentations, or other professional writing.</a:t>
            </a:r>
            <a:br>
              <a:rPr lang="en-US"/>
            </a:br>
            <a:endParaRPr lang="en-US"/>
          </a:p>
          <a:p>
            <a:r>
              <a:rPr lang="en-US" b="1"/>
              <a:t>Explain how it works</a:t>
            </a:r>
            <a:endParaRPr lang="en-US"/>
          </a:p>
          <a:p>
            <a:r>
              <a:rPr lang="en-US"/>
              <a:t>Users can provide a draft of their writing and ask the Writing Coach for feedback.</a:t>
            </a:r>
          </a:p>
          <a:p>
            <a:endParaRPr lang="en-US"/>
          </a:p>
          <a:p>
            <a:r>
              <a:rPr lang="en-US"/>
              <a:t>The agent can suggest improvements related to: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Structure and clarity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Tone and professionalism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Readability and flow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Grammar and formatting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/>
          </a:p>
          <a:p>
            <a:r>
              <a:rPr lang="en-US"/>
              <a:t>It may also propose alternative wording or revised versions of the content.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https://learn.microsoft.com/en-us/training/modules/explore-prebuilt-microsoft-365-copilot-agents/9-examine-writing-coach-agent</a:t>
            </a:r>
            <a:endParaRPr lang="en-US" sz="18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55F2F6CD-2EA3-8453-7284-489445F9A27A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01E47-145B-185A-C691-A55CFD39357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099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8822946-0B91-D096-73E7-4CA14565E4DA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BCC5A8-CB9F-4C18-83E3-C4C0838CF210}" type="datetime8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9/23/2026 12:38 PM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648DC3-99D1-7A4F-0C62-1B6E9BE4EF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35426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F8B48-A700-FD5F-C9B5-51DDCA49F7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359F0B-5CF7-50D9-9362-8477C5FCBE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29BF88-5548-B3FB-2C5D-CC35D48E6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5B01A-C1AF-4ACE-8E30-254641F17C95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F84B90-B2D5-EC51-13E8-A9C994EE5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03A414-9873-3EF9-3CD6-D78DC8CA4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74BA3-F1F9-4AF8-8B36-732983D9B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738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4D83A-FBF4-42B3-6F32-B7FF5DA6E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C367B7-D464-BDC5-5049-2F83B38070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0AFFB7-7514-2B9C-DBF1-5AEA5BBF1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5B01A-C1AF-4ACE-8E30-254641F17C95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FCDCA2-AFBD-585C-CAC3-5472A39E0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FBFFA6-2E0E-71A8-25DA-24E2ACBE1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74BA3-F1F9-4AF8-8B36-732983D9B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906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BFE13-9C67-73B0-40C0-88A248A36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AAE6F4-64D2-F118-0194-A0920260D6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9D762B-5406-125E-8B2E-8B65A44D8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5B01A-C1AF-4ACE-8E30-254641F17C95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EE4119-0A8A-E9B5-C0D4-BF0DF798A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4106B3-7F4D-5E75-9A5B-AEDCBC962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74BA3-F1F9-4AF8-8B36-732983D9B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610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592F2-956C-A2AD-086C-F6F0E2276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258941-19EB-0385-37F5-C0C2E2F0DB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A37223-D3DA-D786-7962-4851106D0D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0D5A38-676B-7C9B-EB57-8AB5CB76E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5B01A-C1AF-4ACE-8E30-254641F17C95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3C8C13-7C67-2D66-B2C9-A53F49694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6A32A9-FD34-EB98-B3BF-1150057CA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74BA3-F1F9-4AF8-8B36-732983D9B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863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A7171-4FB9-92FE-9D2A-0333A272E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F8DA28-3F5F-0571-39AF-26A6A9427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69FF5E-0CC1-64D4-2347-CEFF113678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49FF71-8965-A54E-5479-67F31D99FC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62DD92-61E8-A1DB-8492-0B4630A3B0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C6B43D-D853-B88C-59A2-160E899BC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5B01A-C1AF-4ACE-8E30-254641F17C95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F77502-E78C-DC1B-B4BB-D94400508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228487-1371-4E5C-ECA0-01388E738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74BA3-F1F9-4AF8-8B36-732983D9B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2682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A9290-9DB9-50CB-2CA7-DB87067A7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0E95D2-2FAF-B61B-D287-7C5B915C1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5B01A-C1AF-4ACE-8E30-254641F17C95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232C41-1C71-7E1C-0BC9-8C4844B8A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141B5D-B433-E99D-0CE6-D0BE936E7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74BA3-F1F9-4AF8-8B36-732983D9B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5242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4934A5-031D-CDD7-6926-B9251EDA2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5B01A-C1AF-4ACE-8E30-254641F17C95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0DC780-FD3B-3837-3AAB-5DE299AF5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134096-D213-E3AB-E978-1ABB94097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74BA3-F1F9-4AF8-8B36-732983D9B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005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797B0-A93F-A868-1B36-288A49283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886C5D-47E3-44A4-9427-E7BD89AB92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1591DC-2735-7F26-A4F2-FF3ACB1B85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C0CC14-6508-9CD0-7E5C-092C523E9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5B01A-C1AF-4ACE-8E30-254641F17C95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CDAAEF-18B2-EBB6-6E1D-6E31B8FCE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EC9A7E-0CBE-BC05-D1A4-D7027E847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74BA3-F1F9-4AF8-8B36-732983D9B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321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E664F-9607-4B3F-7C10-AF82332BD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3FC4AB-9738-F18F-0BC8-1635D068169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CB2425-2901-31B3-7347-8693D1374E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4CF0EB-12AD-00C2-8456-67BA94E05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5B01A-C1AF-4ACE-8E30-254641F17C95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6225AE-A1F9-7A78-55AE-A961C8E60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E5B2B6-59B2-7ABA-77D1-96923B699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74BA3-F1F9-4AF8-8B36-732983D9B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892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2233E-45C3-B678-6A58-B2DED8C0D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D7FC21-619B-DDD0-1E93-2C0FBC3FF4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EE9300-B5CD-CFA9-4BEA-7F60E058A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5B01A-C1AF-4ACE-8E30-254641F17C95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973A00-84BB-CA81-2834-C3C8C7A1C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AA932-1B08-0691-1021-7B3E1A5A5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74BA3-F1F9-4AF8-8B36-732983D9B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265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9AA686-055B-5254-1EA1-9952A56477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07F982-5009-5AAF-8A2A-FB28FF0E53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61E3E9-66E6-AB47-A85D-88BB218D7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5B01A-C1AF-4ACE-8E30-254641F17C95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E1E71F-C561-AE56-A9B0-11D5241CB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207B9-9D85-BD1D-9812-8DC574620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74BA3-F1F9-4AF8-8B36-732983D9B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3410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Section Title Skilling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olorful background with a black stripe&#10;&#10;AI-generated content may be incorrect.">
            <a:extLst>
              <a:ext uri="{FF2B5EF4-FFF2-40B4-BE49-F238E27FC236}">
                <a16:creationId xmlns:a16="http://schemas.microsoft.com/office/drawing/2014/main" id="{5172D8DA-D5E1-CEFC-04BB-03C55E7C3F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64700" y="0"/>
            <a:ext cx="25273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8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rgbClr val="2A446F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5177817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sub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rry image of a person's hand&#10;&#10;Description automatically generated">
            <a:extLst>
              <a:ext uri="{FF2B5EF4-FFF2-40B4-BE49-F238E27FC236}">
                <a16:creationId xmlns:a16="http://schemas.microsoft.com/office/drawing/2014/main" id="{F5C40B06-A260-9D9D-4EAD-700D31A9650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75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2407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94584EB2-E663-4E79-1330-9D1AE176D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054975-9B72-B5D8-DC2C-2A1B1887D31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4675" y="941388"/>
            <a:ext cx="11018520" cy="341632"/>
          </a:xfrm>
        </p:spPr>
        <p:txBody>
          <a:bodyPr tIns="64008"/>
          <a:lstStyle>
            <a:lvl1pPr>
              <a:defRPr sz="1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11079268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D7FB96-7AC7-CF3B-37B5-4D2A3B994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D75394-1917-EE72-3560-CE8A5E9C00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65F8E2-9721-520F-FB1F-5D6549D403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A5B01A-C1AF-4ACE-8E30-254641F17C95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240D03-76B1-2A4D-2ECA-51CC770310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070849-76F6-CA3B-C443-F791C25D0B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874BA3-F1F9-4AF8-8B36-732983D9B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996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2.png"/><Relationship Id="rId4" Type="http://schemas.openxmlformats.org/officeDocument/2006/relationships/customXml" Target="../ink/ink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3.png"/><Relationship Id="rId10" Type="http://schemas.openxmlformats.org/officeDocument/2006/relationships/image" Target="../media/image10.png"/><Relationship Id="rId4" Type="http://schemas.openxmlformats.org/officeDocument/2006/relationships/image" Target="../media/image5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5E844-57D1-C785-2437-CFCAAA07D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C42C5-E0E9-F67B-D2EE-46C409AB5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216" y="2980408"/>
            <a:ext cx="9144000" cy="553998"/>
          </a:xfrm>
        </p:spPr>
        <p:txBody>
          <a:bodyPr/>
          <a:lstStyle/>
          <a:p>
            <a:r>
              <a:rPr lang="en-US"/>
              <a:t>Microsoft 365 pre-built agents</a:t>
            </a:r>
          </a:p>
        </p:txBody>
      </p:sp>
    </p:spTree>
    <p:extLst>
      <p:ext uri="{BB962C8B-B14F-4D97-AF65-F5344CB8AC3E}">
        <p14:creationId xmlns:p14="http://schemas.microsoft.com/office/powerpoint/2010/main" val="3707703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31C46-71F2-9B93-116B-3779D100B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M365 Copilot Logo">
            <a:extLst>
              <a:ext uri="{FF2B5EF4-FFF2-40B4-BE49-F238E27FC236}">
                <a16:creationId xmlns:a16="http://schemas.microsoft.com/office/drawing/2014/main" id="{5D09E08B-46CF-7142-4D95-0E323FED75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0448" y="12528"/>
            <a:ext cx="2611552" cy="1105947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A1CEF813-DE17-C3EB-2A6E-F84634B35BD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86740" y="731868"/>
            <a:ext cx="7312025" cy="493713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-50" baseline="0">
                <a:ln w="3175">
                  <a:noFill/>
                </a:ln>
                <a:gradFill>
                  <a:gsLst>
                    <a:gs pos="50000">
                      <a:schemeClr val="accent5"/>
                    </a:gs>
                    <a:gs pos="0">
                      <a:schemeClr val="accent1"/>
                    </a:gs>
                    <a:gs pos="100000">
                      <a:srgbClr val="C73ECC"/>
                    </a:gs>
                  </a:gsLst>
                  <a:lin ang="2700000" scaled="1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3200" b="0" i="0" u="none" strike="noStrike" kern="1200" cap="none" spc="-50" normalizeH="0" baseline="0" noProof="0">
                <a:ln w="3175">
                  <a:noFill/>
                </a:ln>
                <a:solidFill>
                  <a:srgbClr val="8661C5"/>
                </a:solidFill>
                <a:effectLst/>
                <a:uLnTx/>
                <a:uFillTx/>
                <a:latin typeface="+mj-lt"/>
                <a:ea typeface="+mn-ea"/>
                <a:cs typeface="Segoe UI"/>
              </a:rPr>
              <a:t>Microsoft pre-built agents</a:t>
            </a:r>
            <a:endParaRPr kumimoji="0" lang="en-CA" sz="3200" b="0" i="0" u="none" strike="noStrike" kern="1200" cap="none" spc="-50" normalizeH="0" baseline="0" noProof="0">
              <a:ln w="3175">
                <a:noFill/>
              </a:ln>
              <a:solidFill>
                <a:srgbClr val="8661C5"/>
              </a:solidFill>
              <a:effectLst/>
              <a:uLnTx/>
              <a:uFillTx/>
              <a:latin typeface="+mj-lt"/>
              <a:ea typeface="+mn-ea"/>
              <a:cs typeface="Segoe UI" pitchFamily="34" charset="0"/>
            </a:endParaRP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5964A823-8E85-F894-B7A7-F4F5D9E142BF}"/>
              </a:ext>
            </a:extLst>
          </p:cNvPr>
          <p:cNvSpPr>
            <a:spLocks noGrp="1"/>
          </p:cNvSpPr>
          <p:nvPr/>
        </p:nvSpPr>
        <p:spPr>
          <a:xfrm>
            <a:off x="592285" y="1534528"/>
            <a:ext cx="11005427" cy="146939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kern="1200" spc="0" baseline="0">
                <a:solidFill>
                  <a:schemeClr val="tx1"/>
                </a:solidFill>
                <a:latin typeface="+mn-lt"/>
                <a:ea typeface="+mn-ea"/>
                <a:cs typeface="Segoe Sans Display" pitchFamily="2" charset="0"/>
              </a:defRPr>
            </a:lvl1pPr>
            <a:lvl2pPr marL="228600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Sans Display" pitchFamily="2" charset="0"/>
              </a:rPr>
              <a:t>1st‑party agents are </a:t>
            </a:r>
            <a:r>
              <a:rPr kumimoji="0" lang="en-GB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Sans Display" pitchFamily="2" charset="0"/>
              </a:rPr>
              <a:t>built‑in, governed, and ready to work on day one</a:t>
            </a: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Sans Display" pitchFamily="2" charset="0"/>
              </a:rPr>
              <a:t>—so you can immediately realise value without new integration, development, or risk decisions. This means you can </a:t>
            </a:r>
            <a:r>
              <a:rPr kumimoji="0" lang="en-GB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Sans Display" pitchFamily="2" charset="0"/>
              </a:rPr>
              <a:t>experience agent‑led work</a:t>
            </a: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Sans Display" pitchFamily="2" charset="0"/>
              </a:rPr>
              <a:t> whilst you expand with purpose built, custom agentic solutions.</a:t>
            </a:r>
          </a:p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Segoe Sans Display" pitchFamily="2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2AFAA78-2DB4-AC03-EC32-B63B96FBB0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44311" y="3031355"/>
            <a:ext cx="11503378" cy="3152287"/>
            <a:chOff x="344311" y="2209796"/>
            <a:chExt cx="11503378" cy="3152287"/>
          </a:xfrm>
        </p:grpSpPr>
        <p:sp>
          <p:nvSpPr>
            <p:cNvPr id="5" name="Rounded Rectangle 6">
              <a:extLst>
                <a:ext uri="{FF2B5EF4-FFF2-40B4-BE49-F238E27FC236}">
                  <a16:creationId xmlns:a16="http://schemas.microsoft.com/office/drawing/2014/main" id="{65B24447-9446-56D1-1C58-B9E86E297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auto">
            <a:xfrm>
              <a:off x="344311" y="2209796"/>
              <a:ext cx="11503378" cy="3152287"/>
            </a:xfrm>
            <a:prstGeom prst="roundRect">
              <a:avLst>
                <a:gd name="adj" fmla="val 6237"/>
              </a:avLst>
            </a:prstGeom>
            <a:gradFill flip="none" rotWithShape="1">
              <a:gsLst>
                <a:gs pos="20000">
                  <a:srgbClr val="C03BC4">
                    <a:alpha val="10000"/>
                  </a:srgbClr>
                </a:gs>
                <a:gs pos="80000">
                  <a:srgbClr val="0078D4">
                    <a:alpha val="10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9525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85725" tIns="68580" rIns="85725" bIns="6858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43714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75" b="0" i="0" u="none" strike="noStrike" kern="0" cap="none" spc="0" normalizeH="0" baseline="0" noProof="0" err="1">
                <a:ln>
                  <a:noFill/>
                </a:ln>
                <a:solidFill>
                  <a:srgbClr val="F4F3F5"/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endParaRPr>
            </a:p>
          </p:txBody>
        </p:sp>
        <p:sp>
          <p:nvSpPr>
            <p:cNvPr id="6" name="Rounded Rectangle 3">
              <a:extLst>
                <a:ext uri="{FF2B5EF4-FFF2-40B4-BE49-F238E27FC236}">
                  <a16:creationId xmlns:a16="http://schemas.microsoft.com/office/drawing/2014/main" id="{B3AF775F-F6A3-CDEE-6A7B-CDA122187F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auto">
            <a:xfrm>
              <a:off x="586740" y="2684922"/>
              <a:ext cx="2071886" cy="2262998"/>
            </a:xfrm>
            <a:prstGeom prst="roundRect">
              <a:avLst>
                <a:gd name="adj" fmla="val 5182"/>
              </a:avLst>
            </a:prstGeom>
            <a:solidFill>
              <a:srgbClr val="FFFFFF">
                <a:alpha val="80000"/>
              </a:srgbClr>
            </a:solidFill>
            <a:ln w="12700" cap="flat" cmpd="sng" algn="ctr">
              <a:solidFill>
                <a:srgbClr val="FFFFFF"/>
              </a:solidFill>
              <a:prstDash val="solid"/>
            </a:ln>
            <a:effectLst>
              <a:outerShdw blurRad="190500" dist="25400" dir="2700000" algn="tl" rotWithShape="0">
                <a:srgbClr val="463668">
                  <a:alpha val="15000"/>
                </a:srgbClr>
              </a:outerShdw>
            </a:effectLst>
          </p:spPr>
          <p:txBody>
            <a:bodyPr rot="0" spcFirstLastPara="0" vertOverflow="overflow" horzOverflow="overflow" vert="horz" wrap="square" lIns="0" tIns="0" rIns="0" bIns="10800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762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Segoe Sans Display Semibold" pitchFamily="2" charset="0"/>
                <a:ea typeface="+mn-ea"/>
                <a:cs typeface="+mn-cs"/>
              </a:endParaRPr>
            </a:p>
          </p:txBody>
        </p:sp>
        <p:sp>
          <p:nvSpPr>
            <p:cNvPr id="7" name="Rounded Rectangle 3">
              <a:extLst>
                <a:ext uri="{FF2B5EF4-FFF2-40B4-BE49-F238E27FC236}">
                  <a16:creationId xmlns:a16="http://schemas.microsoft.com/office/drawing/2014/main" id="{8052CEA1-3B96-47AE-7003-6604E15E0A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auto">
            <a:xfrm>
              <a:off x="2824222" y="2688432"/>
              <a:ext cx="2071886" cy="2259488"/>
            </a:xfrm>
            <a:prstGeom prst="roundRect">
              <a:avLst>
                <a:gd name="adj" fmla="val 5182"/>
              </a:avLst>
            </a:prstGeom>
            <a:solidFill>
              <a:srgbClr val="FFFFFF">
                <a:alpha val="80000"/>
              </a:srgbClr>
            </a:solidFill>
            <a:ln w="12700" cap="flat" cmpd="sng" algn="ctr">
              <a:solidFill>
                <a:srgbClr val="FFFFFF"/>
              </a:solidFill>
              <a:prstDash val="solid"/>
            </a:ln>
            <a:effectLst>
              <a:outerShdw blurRad="190500" dist="25400" dir="2700000" algn="tl" rotWithShape="0">
                <a:srgbClr val="463668">
                  <a:alpha val="15000"/>
                </a:srgbClr>
              </a:outerShdw>
            </a:effectLst>
          </p:spPr>
          <p:txBody>
            <a:bodyPr rot="0" spcFirstLastPara="0" vertOverflow="overflow" horzOverflow="overflow" vert="horz" wrap="square" lIns="0" tIns="0" rIns="0" bIns="10800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762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Segoe Sans Display Semibold" pitchFamily="2" charset="0"/>
                <a:ea typeface="+mn-ea"/>
                <a:cs typeface="+mn-cs"/>
              </a:endParaRPr>
            </a:p>
          </p:txBody>
        </p:sp>
        <p:sp>
          <p:nvSpPr>
            <p:cNvPr id="9" name="Rounded Rectangle 3">
              <a:extLst>
                <a:ext uri="{FF2B5EF4-FFF2-40B4-BE49-F238E27FC236}">
                  <a16:creationId xmlns:a16="http://schemas.microsoft.com/office/drawing/2014/main" id="{DDFE5D25-7213-D208-D50D-0244656BA2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auto">
            <a:xfrm>
              <a:off x="5088694" y="2688432"/>
              <a:ext cx="2068594" cy="2259488"/>
            </a:xfrm>
            <a:prstGeom prst="roundRect">
              <a:avLst>
                <a:gd name="adj" fmla="val 5182"/>
              </a:avLst>
            </a:prstGeom>
            <a:solidFill>
              <a:srgbClr val="FFFFFF">
                <a:alpha val="80000"/>
              </a:srgbClr>
            </a:solidFill>
            <a:ln w="12700" cap="flat" cmpd="sng" algn="ctr">
              <a:solidFill>
                <a:srgbClr val="FFFFFF"/>
              </a:solidFill>
              <a:prstDash val="solid"/>
            </a:ln>
            <a:effectLst>
              <a:outerShdw blurRad="190500" dist="25400" dir="2700000" algn="tl" rotWithShape="0">
                <a:srgbClr val="463668">
                  <a:alpha val="15000"/>
                </a:srgbClr>
              </a:outerShdw>
            </a:effectLst>
          </p:spPr>
          <p:txBody>
            <a:bodyPr rot="0" spcFirstLastPara="0" vertOverflow="overflow" horzOverflow="overflow" vert="horz" wrap="square" lIns="0" tIns="0" rIns="0" bIns="10800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762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Segoe Sans Display Semibold" pitchFamily="2" charset="0"/>
                <a:ea typeface="+mn-ea"/>
                <a:cs typeface="+mn-cs"/>
              </a:endParaRPr>
            </a:p>
          </p:txBody>
        </p:sp>
        <p:sp>
          <p:nvSpPr>
            <p:cNvPr id="10" name="Rounded Rectangle 3">
              <a:extLst>
                <a:ext uri="{FF2B5EF4-FFF2-40B4-BE49-F238E27FC236}">
                  <a16:creationId xmlns:a16="http://schemas.microsoft.com/office/drawing/2014/main" id="{687D24C2-0E7F-F7AE-85FE-719575958A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auto">
            <a:xfrm>
              <a:off x="7295892" y="2688432"/>
              <a:ext cx="2071886" cy="2259488"/>
            </a:xfrm>
            <a:prstGeom prst="roundRect">
              <a:avLst>
                <a:gd name="adj" fmla="val 5182"/>
              </a:avLst>
            </a:prstGeom>
            <a:solidFill>
              <a:srgbClr val="FFFFFF">
                <a:alpha val="80000"/>
              </a:srgbClr>
            </a:solidFill>
            <a:ln w="12700" cap="flat" cmpd="sng" algn="ctr">
              <a:solidFill>
                <a:srgbClr val="FFFFFF"/>
              </a:solidFill>
              <a:prstDash val="solid"/>
            </a:ln>
            <a:effectLst>
              <a:outerShdw blurRad="190500" dist="25400" dir="2700000" algn="tl" rotWithShape="0">
                <a:srgbClr val="463668">
                  <a:alpha val="15000"/>
                </a:srgbClr>
              </a:outerShdw>
            </a:effectLst>
          </p:spPr>
          <p:txBody>
            <a:bodyPr rot="0" spcFirstLastPara="0" vertOverflow="overflow" horzOverflow="overflow" vert="horz" wrap="square" lIns="0" tIns="0" rIns="0" bIns="10800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762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Segoe Sans Display Semibold" pitchFamily="2" charset="0"/>
                <a:ea typeface="+mn-ea"/>
                <a:cs typeface="+mn-cs"/>
              </a:endParaRPr>
            </a:p>
          </p:txBody>
        </p:sp>
        <p:sp>
          <p:nvSpPr>
            <p:cNvPr id="11" name="Rounded Rectangle 3">
              <a:extLst>
                <a:ext uri="{FF2B5EF4-FFF2-40B4-BE49-F238E27FC236}">
                  <a16:creationId xmlns:a16="http://schemas.microsoft.com/office/drawing/2014/main" id="{E3B8B8FE-A868-0467-8282-6615BD0660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auto">
            <a:xfrm>
              <a:off x="9533374" y="2688432"/>
              <a:ext cx="2071886" cy="2259488"/>
            </a:xfrm>
            <a:prstGeom prst="roundRect">
              <a:avLst>
                <a:gd name="adj" fmla="val 5182"/>
              </a:avLst>
            </a:prstGeom>
            <a:solidFill>
              <a:srgbClr val="FFFFFF">
                <a:alpha val="80000"/>
              </a:srgbClr>
            </a:solidFill>
            <a:ln w="12700" cap="flat" cmpd="sng" algn="ctr">
              <a:solidFill>
                <a:srgbClr val="FFFFFF"/>
              </a:solidFill>
              <a:prstDash val="solid"/>
            </a:ln>
            <a:effectLst>
              <a:outerShdw blurRad="190500" dist="25400" dir="2700000" algn="tl" rotWithShape="0">
                <a:srgbClr val="463668">
                  <a:alpha val="15000"/>
                </a:srgbClr>
              </a:outerShdw>
            </a:effectLst>
          </p:spPr>
          <p:txBody>
            <a:bodyPr rot="0" spcFirstLastPara="0" vertOverflow="overflow" horzOverflow="overflow" vert="horz" wrap="square" lIns="0" tIns="0" rIns="0" bIns="10800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762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Segoe Sans Display Semibold" pitchFamily="2" charset="0"/>
                <a:ea typeface="+mn-ea"/>
                <a:cs typeface="+mn-cs"/>
              </a:endParaRPr>
            </a:p>
          </p:txBody>
        </p:sp>
      </p:grp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E71BC5C-D615-38EF-22E5-8363FBAD3604}"/>
              </a:ext>
            </a:extLst>
          </p:cNvPr>
          <p:cNvSpPr/>
          <p:nvPr/>
        </p:nvSpPr>
        <p:spPr bwMode="auto">
          <a:xfrm>
            <a:off x="4418529" y="2753028"/>
            <a:ext cx="3354941" cy="54790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4000">
                <a:srgbClr val="0078D4"/>
              </a:gs>
              <a:gs pos="100000">
                <a:srgbClr val="C03BC4"/>
              </a:gs>
            </a:gsLst>
            <a:lin ang="2700000" scaled="1"/>
            <a:tileRect/>
          </a:gradFill>
          <a:ln w="15875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+mn-ea"/>
                <a:cs typeface="Segoe Sans Text Semibold" pitchFamily="2" charset="0"/>
              </a:rPr>
              <a:t>Benefits of 1P Agents</a:t>
            </a:r>
          </a:p>
        </p:txBody>
      </p:sp>
      <p:sp>
        <p:nvSpPr>
          <p:cNvPr id="21" name="TextBox 37">
            <a:extLst>
              <a:ext uri="{FF2B5EF4-FFF2-40B4-BE49-F238E27FC236}">
                <a16:creationId xmlns:a16="http://schemas.microsoft.com/office/drawing/2014/main" id="{0571963E-8274-621A-0555-62AE37291F4F}"/>
              </a:ext>
            </a:extLst>
          </p:cNvPr>
          <p:cNvSpPr txBox="1"/>
          <p:nvPr/>
        </p:nvSpPr>
        <p:spPr>
          <a:xfrm>
            <a:off x="862080" y="3936795"/>
            <a:ext cx="1521205" cy="3323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-2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UI Semibold"/>
                <a:ea typeface="+mn-ea"/>
                <a:cs typeface="Segoe Sans Display Semibold" pitchFamily="2" charset="0"/>
              </a:rPr>
              <a:t>Embedded</a:t>
            </a:r>
            <a:r>
              <a:rPr kumimoji="0" lang="en-US" sz="2400" b="0" i="0" u="none" strike="noStrike" kern="1200" cap="none" spc="-2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Sans Display Semibold"/>
                <a:ea typeface="+mn-ea"/>
                <a:cs typeface="Segoe Sans Display Semibold" pitchFamily="2" charset="0"/>
              </a:rPr>
              <a:t> </a:t>
            </a:r>
          </a:p>
        </p:txBody>
      </p:sp>
      <p:sp>
        <p:nvSpPr>
          <p:cNvPr id="22" name="TextBox 38">
            <a:extLst>
              <a:ext uri="{FF2B5EF4-FFF2-40B4-BE49-F238E27FC236}">
                <a16:creationId xmlns:a16="http://schemas.microsoft.com/office/drawing/2014/main" id="{37A957AC-02AF-5059-6670-D7A4EF3B8765}"/>
              </a:ext>
            </a:extLst>
          </p:cNvPr>
          <p:cNvSpPr txBox="1"/>
          <p:nvPr/>
        </p:nvSpPr>
        <p:spPr>
          <a:xfrm>
            <a:off x="657345" y="4412105"/>
            <a:ext cx="1930676" cy="9233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Segoe UI"/>
                <a:ea typeface="+mn-ea"/>
                <a:cs typeface="Segoe Sans Display" pitchFamily="2" charset="0"/>
              </a:rPr>
              <a:t>Integrated in the Microsoft 365 apps you already use —driving rapid, deeper adoption, and measurable outcomes</a:t>
            </a:r>
          </a:p>
        </p:txBody>
      </p:sp>
      <p:sp>
        <p:nvSpPr>
          <p:cNvPr id="19" name="TextBox 28">
            <a:extLst>
              <a:ext uri="{FF2B5EF4-FFF2-40B4-BE49-F238E27FC236}">
                <a16:creationId xmlns:a16="http://schemas.microsoft.com/office/drawing/2014/main" id="{704B8EA1-6BB1-AD07-BC4E-1BA608A690AF}"/>
              </a:ext>
            </a:extLst>
          </p:cNvPr>
          <p:cNvSpPr txBox="1"/>
          <p:nvPr/>
        </p:nvSpPr>
        <p:spPr>
          <a:xfrm>
            <a:off x="2943550" y="3930240"/>
            <a:ext cx="1827234" cy="3323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-70" normalizeH="0" baseline="0" noProof="0">
                <a:ln>
                  <a:noFill/>
                </a:ln>
                <a:solidFill>
                  <a:srgbClr val="3876D3"/>
                </a:solidFill>
                <a:effectLst/>
                <a:uLnTx/>
                <a:uFillTx/>
                <a:latin typeface="Segoe UI Semibold"/>
                <a:ea typeface="+mn-ea"/>
                <a:cs typeface="Segoe Sans Display Semibold" pitchFamily="2" charset="0"/>
              </a:rPr>
              <a:t>Differentiated</a:t>
            </a:r>
          </a:p>
        </p:txBody>
      </p:sp>
      <p:sp>
        <p:nvSpPr>
          <p:cNvPr id="20" name="TextBox 29">
            <a:extLst>
              <a:ext uri="{FF2B5EF4-FFF2-40B4-BE49-F238E27FC236}">
                <a16:creationId xmlns:a16="http://schemas.microsoft.com/office/drawing/2014/main" id="{DCE2807E-522A-1C52-DBF5-CE2D53972734}"/>
              </a:ext>
            </a:extLst>
          </p:cNvPr>
          <p:cNvSpPr txBox="1"/>
          <p:nvPr/>
        </p:nvSpPr>
        <p:spPr>
          <a:xfrm>
            <a:off x="2852927" y="4412105"/>
            <a:ext cx="2008480" cy="9233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Segoe UI"/>
                <a:ea typeface="+mn-ea"/>
                <a:cs typeface="Segoe Sans Display" pitchFamily="2" charset="0"/>
              </a:rPr>
              <a:t>Specialised, app‑specific skills with multi‑step execution in the flow of work, unlocking new value from existing M365 investment.</a:t>
            </a:r>
          </a:p>
        </p:txBody>
      </p:sp>
      <p:sp>
        <p:nvSpPr>
          <p:cNvPr id="13" name="TextBox 18">
            <a:extLst>
              <a:ext uri="{FF2B5EF4-FFF2-40B4-BE49-F238E27FC236}">
                <a16:creationId xmlns:a16="http://schemas.microsoft.com/office/drawing/2014/main" id="{8F22E737-E823-4E17-704A-A365D6C55582}"/>
              </a:ext>
            </a:extLst>
          </p:cNvPr>
          <p:cNvSpPr txBox="1"/>
          <p:nvPr/>
        </p:nvSpPr>
        <p:spPr>
          <a:xfrm>
            <a:off x="5619338" y="3936795"/>
            <a:ext cx="1007306" cy="3323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-20" normalizeH="0" baseline="0" noProof="0">
                <a:ln>
                  <a:noFill/>
                </a:ln>
                <a:solidFill>
                  <a:srgbClr val="8661C5"/>
                </a:solidFill>
                <a:effectLst/>
                <a:uLnTx/>
                <a:uFillTx/>
                <a:latin typeface="Segoe UI Semibold"/>
                <a:ea typeface="+mn-ea"/>
                <a:cs typeface="Segoe Sans Display Semibold" pitchFamily="2" charset="0"/>
              </a:rPr>
              <a:t>Instant</a:t>
            </a:r>
          </a:p>
        </p:txBody>
      </p:sp>
      <p:sp>
        <p:nvSpPr>
          <p:cNvPr id="14" name="TextBox 19">
            <a:extLst>
              <a:ext uri="{FF2B5EF4-FFF2-40B4-BE49-F238E27FC236}">
                <a16:creationId xmlns:a16="http://schemas.microsoft.com/office/drawing/2014/main" id="{5BFB60CC-1E8B-E1FD-142C-5B7438A918AF}"/>
              </a:ext>
            </a:extLst>
          </p:cNvPr>
          <p:cNvSpPr txBox="1"/>
          <p:nvPr/>
        </p:nvSpPr>
        <p:spPr>
          <a:xfrm>
            <a:off x="5158999" y="4412105"/>
            <a:ext cx="1872000" cy="9233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Segoe UI"/>
                <a:ea typeface="+mn-ea"/>
                <a:cs typeface="Segoe Sans Display" pitchFamily="2" charset="0"/>
              </a:rPr>
              <a:t>Proven, production‑ready solutions on day one — no custom build, no plugins- no extra reviews, approvals, or risk steps required.</a:t>
            </a:r>
          </a:p>
        </p:txBody>
      </p:sp>
      <p:sp>
        <p:nvSpPr>
          <p:cNvPr id="18" name="TextBox 25">
            <a:extLst>
              <a:ext uri="{FF2B5EF4-FFF2-40B4-BE49-F238E27FC236}">
                <a16:creationId xmlns:a16="http://schemas.microsoft.com/office/drawing/2014/main" id="{4C9FEF1F-D419-EB75-A4A0-65EAF8B61A8B}"/>
              </a:ext>
            </a:extLst>
          </p:cNvPr>
          <p:cNvSpPr txBox="1"/>
          <p:nvPr/>
        </p:nvSpPr>
        <p:spPr>
          <a:xfrm>
            <a:off x="7797848" y="3936795"/>
            <a:ext cx="1067973" cy="3323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-20" normalizeH="0" baseline="0" noProof="0">
                <a:ln>
                  <a:noFill/>
                </a:ln>
                <a:solidFill>
                  <a:srgbClr val="B155CB"/>
                </a:solidFill>
                <a:effectLst/>
                <a:uLnTx/>
                <a:uFillTx/>
                <a:latin typeface="Segoe UI Semibold"/>
                <a:ea typeface="+mn-ea"/>
                <a:cs typeface="Segoe Sans Display Semibold" pitchFamily="2" charset="0"/>
              </a:rPr>
              <a:t>Trusted</a:t>
            </a:r>
          </a:p>
        </p:txBody>
      </p:sp>
      <p:sp>
        <p:nvSpPr>
          <p:cNvPr id="15" name="TextBox 21">
            <a:extLst>
              <a:ext uri="{FF2B5EF4-FFF2-40B4-BE49-F238E27FC236}">
                <a16:creationId xmlns:a16="http://schemas.microsoft.com/office/drawing/2014/main" id="{9B790FE0-9489-F057-6561-D7DF1DF39A3C}"/>
              </a:ext>
            </a:extLst>
          </p:cNvPr>
          <p:cNvSpPr txBox="1"/>
          <p:nvPr/>
        </p:nvSpPr>
        <p:spPr>
          <a:xfrm>
            <a:off x="7395835" y="4412105"/>
            <a:ext cx="1872000" cy="9233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Segoe UI"/>
                <a:ea typeface="+mn-ea"/>
                <a:cs typeface="Segoe Sans Display" pitchFamily="2" charset="0"/>
              </a:rPr>
              <a:t>Enterprise‑grade Microsoft 365 security, compliance, and governance — continuously managed and improved by Microsoft.</a:t>
            </a:r>
          </a:p>
        </p:txBody>
      </p:sp>
      <p:sp>
        <p:nvSpPr>
          <p:cNvPr id="16" name="TextBox 23">
            <a:extLst>
              <a:ext uri="{FF2B5EF4-FFF2-40B4-BE49-F238E27FC236}">
                <a16:creationId xmlns:a16="http://schemas.microsoft.com/office/drawing/2014/main" id="{3D802911-C87B-003B-6218-46C176AE9D5B}"/>
              </a:ext>
            </a:extLst>
          </p:cNvPr>
          <p:cNvSpPr txBox="1"/>
          <p:nvPr/>
        </p:nvSpPr>
        <p:spPr>
          <a:xfrm>
            <a:off x="9725438" y="3918328"/>
            <a:ext cx="1687757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-20" normalizeH="0" baseline="0" noProof="0">
                <a:ln>
                  <a:noFill/>
                </a:ln>
                <a:solidFill>
                  <a:srgbClr val="C03BC4"/>
                </a:solidFill>
                <a:effectLst/>
                <a:uLnTx/>
                <a:uFillTx/>
                <a:latin typeface="Segoe UI Semibold"/>
                <a:ea typeface="+mn-ea"/>
                <a:cs typeface="Segoe Sans Display Semibold" pitchFamily="2" charset="0"/>
              </a:rPr>
              <a:t>Accelerated </a:t>
            </a: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UI Semibold"/>
                <a:ea typeface="Segoe UI" pitchFamily="34" charset="0"/>
                <a:cs typeface="Segoe UI Semibold" panose="020B0702040204020203" pitchFamily="34" charset="0"/>
              </a:rPr>
              <a:t> </a:t>
            </a:r>
          </a:p>
        </p:txBody>
      </p:sp>
      <p:sp>
        <p:nvSpPr>
          <p:cNvPr id="17" name="TextBox 24">
            <a:extLst>
              <a:ext uri="{FF2B5EF4-FFF2-40B4-BE49-F238E27FC236}">
                <a16:creationId xmlns:a16="http://schemas.microsoft.com/office/drawing/2014/main" id="{EDBB04F6-E2BE-94C2-EFC8-4FBCED368D81}"/>
              </a:ext>
            </a:extLst>
          </p:cNvPr>
          <p:cNvSpPr txBox="1"/>
          <p:nvPr/>
        </p:nvSpPr>
        <p:spPr>
          <a:xfrm>
            <a:off x="9572735" y="4412105"/>
            <a:ext cx="1993164" cy="9233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Segoe UI"/>
                <a:ea typeface="+mn-ea"/>
                <a:cs typeface="Segoe Sans Display" pitchFamily="2" charset="0"/>
              </a:rPr>
              <a:t>Fast, low risk, low‑friction on‑ramp to agentic AI adoption. Leverage immediate benefits before extending to custom agents.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B813791-7811-6099-561B-BE853EC76416}"/>
                  </a:ext>
                </a:extLst>
              </p14:cNvPr>
              <p14:cNvContentPartPr/>
              <p14:nvPr/>
            </p14:nvContentPartPr>
            <p14:xfrm>
              <a:off x="3543480" y="4276800"/>
              <a:ext cx="106920" cy="738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B813791-7811-6099-561B-BE853EC7641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534120" y="4267440"/>
                <a:ext cx="125640" cy="92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13525554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647DC-0AB9-DF0D-3E47-F785C29A1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Generated image">
            <a:extLst>
              <a:ext uri="{FF2B5EF4-FFF2-40B4-BE49-F238E27FC236}">
                <a16:creationId xmlns:a16="http://schemas.microsoft.com/office/drawing/2014/main" id="{58415096-A2FE-F169-B7E5-306E06EAE9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760"/>
          <a:stretch>
            <a:fillRect/>
          </a:stretch>
        </p:blipFill>
        <p:spPr>
          <a:xfrm>
            <a:off x="9626322" y="2863149"/>
            <a:ext cx="2796344" cy="3994851"/>
          </a:xfrm>
          <a:prstGeom prst="rect">
            <a:avLst/>
          </a:prstGeom>
          <a:effectLst/>
        </p:spPr>
      </p:pic>
      <p:pic>
        <p:nvPicPr>
          <p:cNvPr id="7" name="Picture 6" descr="Generated image">
            <a:extLst>
              <a:ext uri="{FF2B5EF4-FFF2-40B4-BE49-F238E27FC236}">
                <a16:creationId xmlns:a16="http://schemas.microsoft.com/office/drawing/2014/main" id="{11B21021-ED1F-64FB-9D2A-4A6D0206BE0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081"/>
          <a:stretch>
            <a:fillRect/>
          </a:stretch>
        </p:blipFill>
        <p:spPr>
          <a:xfrm>
            <a:off x="3841815" y="2867569"/>
            <a:ext cx="2744848" cy="3990431"/>
          </a:xfrm>
          <a:prstGeom prst="rect">
            <a:avLst/>
          </a:prstGeom>
          <a:effectLst/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E3341F4A-0E06-1F4E-B0F3-09F427C46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572" y="675811"/>
            <a:ext cx="7531810" cy="553998"/>
          </a:xfrm>
        </p:spPr>
        <p:txBody>
          <a:bodyPr vert="horz" wrap="square" lIns="0" tIns="0" rIns="0" bIns="0" rtlCol="0" anchor="t">
            <a:normAutofit fontScale="90000"/>
          </a:bodyPr>
          <a:lstStyle/>
          <a:p>
            <a:pPr defTabSz="914400"/>
            <a:r>
              <a:rPr lang="en-US">
                <a:gradFill flip="none" rotWithShape="1">
                  <a:gsLst>
                    <a:gs pos="50000">
                      <a:srgbClr val="8661C5"/>
                    </a:gs>
                    <a:gs pos="0">
                      <a:srgbClr val="3E76D4"/>
                    </a:gs>
                    <a:gs pos="100000">
                      <a:srgbClr val="C73ECC"/>
                    </a:gs>
                  </a:gsLst>
                  <a:lin ang="2700000" scaled="1"/>
                  <a:tileRect/>
                </a:gradFill>
                <a:cs typeface="+mn-cs"/>
              </a:rPr>
              <a:t>Prebuilt agents</a:t>
            </a:r>
          </a:p>
        </p:txBody>
      </p:sp>
      <p:pic>
        <p:nvPicPr>
          <p:cNvPr id="8" name="Picture 7" descr="M365 Copilot Logo">
            <a:extLst>
              <a:ext uri="{FF2B5EF4-FFF2-40B4-BE49-F238E27FC236}">
                <a16:creationId xmlns:a16="http://schemas.microsoft.com/office/drawing/2014/main" id="{924CC318-1B65-A062-FBF1-14DFFD47DD4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0448" y="12528"/>
            <a:ext cx="2611552" cy="1105947"/>
          </a:xfrm>
          <a:prstGeom prst="rect">
            <a:avLst/>
          </a:prstGeom>
        </p:spPr>
      </p:pic>
      <p:pic>
        <p:nvPicPr>
          <p:cNvPr id="2" name="Picture 1" descr="Generated image">
            <a:extLst>
              <a:ext uri="{FF2B5EF4-FFF2-40B4-BE49-F238E27FC236}">
                <a16:creationId xmlns:a16="http://schemas.microsoft.com/office/drawing/2014/main" id="{96073FD4-6E71-E9D4-4079-E2CE018F2E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223357" y="2671806"/>
            <a:ext cx="2790796" cy="4186194"/>
          </a:xfrm>
          <a:prstGeom prst="rect">
            <a:avLst/>
          </a:prstGeom>
          <a:effectLst/>
        </p:spPr>
      </p:pic>
      <p:pic>
        <p:nvPicPr>
          <p:cNvPr id="5" name="Picture 4" descr="A photo of a person holing a tablet">
            <a:extLst>
              <a:ext uri="{FF2B5EF4-FFF2-40B4-BE49-F238E27FC236}">
                <a16:creationId xmlns:a16="http://schemas.microsoft.com/office/drawing/2014/main" id="{92B14263-B035-E61F-9F1F-1E84CF0A488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1830"/>
          <a:stretch>
            <a:fillRect/>
          </a:stretch>
        </p:blipFill>
        <p:spPr>
          <a:xfrm>
            <a:off x="1819125" y="2816090"/>
            <a:ext cx="2744848" cy="4041910"/>
          </a:xfrm>
          <a:prstGeom prst="rect">
            <a:avLst/>
          </a:prstGeom>
          <a:effectLst/>
        </p:spPr>
      </p:pic>
      <p:pic>
        <p:nvPicPr>
          <p:cNvPr id="9" name="Picture 3" descr="Generated image">
            <a:extLst>
              <a:ext uri="{FF2B5EF4-FFF2-40B4-BE49-F238E27FC236}">
                <a16:creationId xmlns:a16="http://schemas.microsoft.com/office/drawing/2014/main" id="{93ED24C5-2283-5699-1032-EC9B09381B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1039" y="2994409"/>
            <a:ext cx="2575729" cy="3863592"/>
          </a:xfrm>
          <a:prstGeom prst="rect">
            <a:avLst/>
          </a:prstGeom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A photo of a person crossing their arms">
            <a:extLst>
              <a:ext uri="{FF2B5EF4-FFF2-40B4-BE49-F238E27FC236}">
                <a16:creationId xmlns:a16="http://schemas.microsoft.com/office/drawing/2014/main" id="{10971206-6E25-5F35-2A35-6B94A9899931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b="9968"/>
          <a:stretch>
            <a:fillRect/>
          </a:stretch>
        </p:blipFill>
        <p:spPr>
          <a:xfrm>
            <a:off x="5745009" y="2994409"/>
            <a:ext cx="2860904" cy="3863591"/>
          </a:xfrm>
          <a:prstGeom prst="rect">
            <a:avLst/>
          </a:prstGeom>
          <a:effectLst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6CDD172-2874-F7B7-1CE4-BF9A611AA590}"/>
              </a:ext>
            </a:extLst>
          </p:cNvPr>
          <p:cNvSpPr txBox="1"/>
          <p:nvPr/>
        </p:nvSpPr>
        <p:spPr>
          <a:xfrm>
            <a:off x="6253683" y="1543970"/>
            <a:ext cx="1881089" cy="307777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91440" tIns="45720" rIns="91440" bIns="45720" anchor="ctr">
            <a:spAutoFit/>
          </a:bodyPr>
          <a:lstStyle/>
          <a:p>
            <a:pPr marL="0" marR="0" lvl="0" indent="0" algn="ctr" defTabSz="932472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Prompt coach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190A96-8456-140D-3152-B8F5E4D85AA5}"/>
              </a:ext>
            </a:extLst>
          </p:cNvPr>
          <p:cNvSpPr txBox="1"/>
          <p:nvPr/>
        </p:nvSpPr>
        <p:spPr>
          <a:xfrm>
            <a:off x="4334721" y="1543970"/>
            <a:ext cx="1696175" cy="307777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>
            <a:sp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Idea coach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1C8519-AFA0-2F8C-1FD9-08D0AC367749}"/>
              </a:ext>
            </a:extLst>
          </p:cNvPr>
          <p:cNvSpPr txBox="1"/>
          <p:nvPr/>
        </p:nvSpPr>
        <p:spPr>
          <a:xfrm>
            <a:off x="8313088" y="1541736"/>
            <a:ext cx="1696175" cy="307777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>
            <a:sp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Writing coach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1D840B1-075C-3558-9085-08804B496946}"/>
              </a:ext>
            </a:extLst>
          </p:cNvPr>
          <p:cNvSpPr txBox="1"/>
          <p:nvPr/>
        </p:nvSpPr>
        <p:spPr>
          <a:xfrm>
            <a:off x="10187580" y="1541736"/>
            <a:ext cx="1699476" cy="307777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>
            <a:sp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Career coach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2C59988-4F40-64C8-C463-7CF5592B24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880875" y="1887494"/>
            <a:ext cx="626706" cy="62670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F51FD3B-DC5B-32B5-98EA-8D7C86B1D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62273" y="1887494"/>
            <a:ext cx="626706" cy="62670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BD4C84D-57BE-72DF-E163-26D69B99B1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876717" y="1887494"/>
            <a:ext cx="626706" cy="62670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1D02C21-21FE-774B-AD14-D153E5D53E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23965" y="1887494"/>
            <a:ext cx="626706" cy="62670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4B854CA0-F9EE-7CBC-A796-D91F488DAA39}"/>
              </a:ext>
            </a:extLst>
          </p:cNvPr>
          <p:cNvSpPr txBox="1"/>
          <p:nvPr/>
        </p:nvSpPr>
        <p:spPr>
          <a:xfrm>
            <a:off x="395324" y="1546757"/>
            <a:ext cx="1699476" cy="307777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>
            <a:sp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Researcher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1C44197-397A-D01D-0C70-E3951B447063}"/>
              </a:ext>
            </a:extLst>
          </p:cNvPr>
          <p:cNvSpPr txBox="1"/>
          <p:nvPr/>
        </p:nvSpPr>
        <p:spPr>
          <a:xfrm>
            <a:off x="2327415" y="1546757"/>
            <a:ext cx="1699476" cy="307777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>
            <a:sp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Analyst</a:t>
            </a:r>
          </a:p>
        </p:txBody>
      </p:sp>
      <p:pic>
        <p:nvPicPr>
          <p:cNvPr id="22" name="Picture 2">
            <a:extLst>
              <a:ext uri="{FF2B5EF4-FFF2-40B4-BE49-F238E27FC236}">
                <a16:creationId xmlns:a16="http://schemas.microsoft.com/office/drawing/2014/main" id="{C73C40D6-B247-C80E-F9F2-69BC9F2D95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060" t="27697" r="28225" b="62464"/>
          <a:stretch>
            <a:fillRect/>
          </a:stretch>
        </p:blipFill>
        <p:spPr bwMode="auto">
          <a:xfrm>
            <a:off x="2818090" y="1925052"/>
            <a:ext cx="718125" cy="591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4">
            <a:extLst>
              <a:ext uri="{FF2B5EF4-FFF2-40B4-BE49-F238E27FC236}">
                <a16:creationId xmlns:a16="http://schemas.microsoft.com/office/drawing/2014/main" id="{0B7AA0A5-4758-0B0D-A559-7E26271BA3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95" t="27955" r="65389" b="61277"/>
          <a:stretch>
            <a:fillRect/>
          </a:stretch>
        </p:blipFill>
        <p:spPr bwMode="auto">
          <a:xfrm>
            <a:off x="839133" y="1904734"/>
            <a:ext cx="790231" cy="654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0608228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A2B60-D983-734B-F042-63A70DC78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enerated image">
            <a:extLst>
              <a:ext uri="{FF2B5EF4-FFF2-40B4-BE49-F238E27FC236}">
                <a16:creationId xmlns:a16="http://schemas.microsoft.com/office/drawing/2014/main" id="{C24C5F6B-A912-E7D3-034C-F87325EB51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3459" y="664367"/>
            <a:ext cx="4129089" cy="6193634"/>
          </a:xfrm>
          <a:prstGeom prst="rect">
            <a:avLst/>
          </a:prstGeom>
          <a:effectLst>
            <a:glow rad="1905000">
              <a:schemeClr val="bg1"/>
            </a:glow>
          </a:effectLst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1FEEE56D-ACA0-84AD-A8CF-23026D1E7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1165" y="670578"/>
            <a:ext cx="7531810" cy="553998"/>
          </a:xfrm>
        </p:spPr>
        <p:txBody>
          <a:bodyPr vert="horz" wrap="square" lIns="0" tIns="0" rIns="0" bIns="0" rtlCol="0" anchor="t">
            <a:normAutofit fontScale="90000"/>
          </a:bodyPr>
          <a:lstStyle/>
          <a:p>
            <a:pPr defTabSz="914400"/>
            <a:r>
              <a:rPr lang="en-US">
                <a:gradFill flip="none" rotWithShape="1">
                  <a:gsLst>
                    <a:gs pos="50000">
                      <a:srgbClr val="8661C5"/>
                    </a:gs>
                    <a:gs pos="0">
                      <a:srgbClr val="3E76D4"/>
                    </a:gs>
                    <a:gs pos="100000">
                      <a:srgbClr val="C73ECC"/>
                    </a:gs>
                  </a:gsLst>
                  <a:lin ang="2700000" scaled="1"/>
                  <a:tileRect/>
                </a:gradFill>
                <a:cs typeface="+mn-cs"/>
              </a:rPr>
              <a:t>Researcher agent</a:t>
            </a:r>
          </a:p>
        </p:txBody>
      </p:sp>
      <p:pic>
        <p:nvPicPr>
          <p:cNvPr id="8" name="Picture 7" descr="M365 Copilot Logo">
            <a:extLst>
              <a:ext uri="{FF2B5EF4-FFF2-40B4-BE49-F238E27FC236}">
                <a16:creationId xmlns:a16="http://schemas.microsoft.com/office/drawing/2014/main" id="{AD1D2E37-EB3B-C363-2AC0-B57BF91B14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0448" y="12528"/>
            <a:ext cx="2611552" cy="1105947"/>
          </a:xfrm>
          <a:prstGeom prst="rect">
            <a:avLst/>
          </a:prstGeom>
        </p:spPr>
      </p:pic>
      <p:pic>
        <p:nvPicPr>
          <p:cNvPr id="2" name="Picture 4" descr="Researcher Agent Logo">
            <a:extLst>
              <a:ext uri="{FF2B5EF4-FFF2-40B4-BE49-F238E27FC236}">
                <a16:creationId xmlns:a16="http://schemas.microsoft.com/office/drawing/2014/main" id="{37F8F5FD-9CB2-38F2-3A53-043CB3491C5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95" t="27955" r="65389" b="61277"/>
          <a:stretch>
            <a:fillRect/>
          </a:stretch>
        </p:blipFill>
        <p:spPr bwMode="auto">
          <a:xfrm>
            <a:off x="527197" y="578479"/>
            <a:ext cx="790231" cy="654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ounded Rectangle 21">
            <a:extLst>
              <a:ext uri="{FF2B5EF4-FFF2-40B4-BE49-F238E27FC236}">
                <a16:creationId xmlns:a16="http://schemas.microsoft.com/office/drawing/2014/main" id="{5A4C6CBA-7FD1-1C11-E038-F6065DF140FD}"/>
              </a:ext>
            </a:extLst>
          </p:cNvPr>
          <p:cNvSpPr/>
          <p:nvPr/>
        </p:nvSpPr>
        <p:spPr bwMode="auto">
          <a:xfrm>
            <a:off x="663740" y="1895141"/>
            <a:ext cx="5269811" cy="4382830"/>
          </a:xfrm>
          <a:prstGeom prst="roundRect">
            <a:avLst>
              <a:gd name="adj" fmla="val 3125"/>
            </a:avLst>
          </a:prstGeom>
          <a:solidFill>
            <a:schemeClr val="bg1">
              <a:alpha val="53000"/>
            </a:schemeClr>
          </a:solidFill>
          <a:ln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82880" tIns="27432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32472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8661C5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What Researcher agent is</a:t>
            </a:r>
          </a:p>
          <a:p>
            <a:pPr marL="171450" marR="0" lvl="0" indent="-171450" algn="l" defTabSz="93247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Calibri" panose="020F0502020204030204" pitchFamily="34" charset="0"/>
              </a:rPr>
              <a:t>A smart assistant that finds and organizes information quickly.</a:t>
            </a:r>
          </a:p>
          <a:p>
            <a:pPr marL="171450" marR="0" lvl="0" indent="-171450" algn="l" defTabSz="93247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Calibri" panose="020F0502020204030204" pitchFamily="34" charset="0"/>
              </a:rPr>
              <a:t>Optimized for business-relevant research.</a:t>
            </a:r>
          </a:p>
          <a:p>
            <a:pPr marL="0" marR="0" lvl="0" indent="0" algn="l" defTabSz="932472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8661C5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What it does</a:t>
            </a:r>
          </a:p>
          <a:p>
            <a:pPr marL="171450" marR="0" lvl="0" indent="-171450" algn="l" defTabSz="93247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Calibri" panose="020F0502020204030204" pitchFamily="34" charset="0"/>
              </a:rPr>
              <a:t>Scans recent files, trusted sources, and the web.</a:t>
            </a:r>
          </a:p>
          <a:p>
            <a:pPr marL="171450" marR="0" lvl="0" indent="-171450" algn="l" defTabSz="93247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Calibri" panose="020F0502020204030204" pitchFamily="34" charset="0"/>
              </a:rPr>
              <a:t>Summarizes long documents and extracts key points.</a:t>
            </a:r>
          </a:p>
          <a:p>
            <a:pPr marL="171450" marR="0" lvl="0" indent="-171450" algn="l" defTabSz="93247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Calibri" panose="020F0502020204030204" pitchFamily="34" charset="0"/>
              </a:rPr>
              <a:t>Provides citations so you can follow up or share findings.</a:t>
            </a:r>
          </a:p>
          <a:p>
            <a:pPr marL="0" marR="0" lvl="0" indent="0" algn="l" defTabSz="932472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8661C5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How it helps you</a:t>
            </a:r>
          </a:p>
          <a:p>
            <a:pPr marL="171450" marR="0" lvl="0" indent="-171450" algn="l" defTabSz="93247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Calibri" panose="020F0502020204030204" pitchFamily="34" charset="0"/>
              </a:rPr>
              <a:t>Saves time by cutting through dozens of articles or reports.</a:t>
            </a:r>
          </a:p>
          <a:p>
            <a:pPr marL="171450" marR="0" lvl="0" indent="-171450" algn="l" defTabSz="93247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Calibri" panose="020F0502020204030204" pitchFamily="34" charset="0"/>
              </a:rPr>
              <a:t>Delivers structured answers and insights you can trust.</a:t>
            </a:r>
          </a:p>
          <a:p>
            <a:pPr marL="0" marR="0" lvl="0" indent="0" algn="l" defTabSz="932472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8661C5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Tips for using it</a:t>
            </a:r>
          </a:p>
          <a:p>
            <a:pPr marL="0" marR="0" lvl="0" indent="0" algn="l" defTabSz="93247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Calibri" panose="020F0502020204030204" pitchFamily="34" charset="0"/>
              </a:rPr>
              <a:t>Responses can sometimes be lengthy → ask Copilot for a short summary or key bullet points.</a:t>
            </a:r>
            <a:endParaRPr kumimoji="0" lang="en-CA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Semibold"/>
              <a:ea typeface="+mn-ea"/>
              <a:cs typeface="Calibri" panose="020F0502020204030204" pitchFamily="34" charset="0"/>
            </a:endParaRPr>
          </a:p>
        </p:txBody>
      </p:sp>
      <p:sp>
        <p:nvSpPr>
          <p:cNvPr id="4" name="Rounded Rectangle 14">
            <a:extLst>
              <a:ext uri="{FF2B5EF4-FFF2-40B4-BE49-F238E27FC236}">
                <a16:creationId xmlns:a16="http://schemas.microsoft.com/office/drawing/2014/main" id="{FEABD5F8-B6D4-A70C-8BD9-A6D462AD8277}"/>
              </a:ext>
            </a:extLst>
          </p:cNvPr>
          <p:cNvSpPr/>
          <p:nvPr/>
        </p:nvSpPr>
        <p:spPr bwMode="auto">
          <a:xfrm>
            <a:off x="2150350" y="1714885"/>
            <a:ext cx="2296589" cy="360512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8661C5"/>
              </a:gs>
              <a:gs pos="60000">
                <a:schemeClr val="accent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  <a:headEnd type="none" w="med" len="med"/>
            <a:tailEnd type="none" w="med" len="med"/>
          </a:ln>
          <a:effectLst>
            <a:outerShdw blurRad="114300" dist="63500" dir="2700000" algn="tl" rotWithShape="0">
              <a:srgbClr val="454142">
                <a:alpha val="2000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36000" tIns="0" rIns="36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 panose="020B0502040204020203" pitchFamily="34" charset="0"/>
                <a:ea typeface="Segoe UI" pitchFamily="34" charset="0"/>
                <a:cs typeface="Segoe UI Semibold" panose="020B0502040204020203" pitchFamily="34" charset="0"/>
              </a:rPr>
              <a:t>About this agent</a:t>
            </a:r>
          </a:p>
        </p:txBody>
      </p:sp>
    </p:spTree>
    <p:extLst>
      <p:ext uri="{BB962C8B-B14F-4D97-AF65-F5344CB8AC3E}">
        <p14:creationId xmlns:p14="http://schemas.microsoft.com/office/powerpoint/2010/main" val="813465910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81D03-5E66-5F3F-EB55-926DD3658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hoto of a person holding a tablet">
            <a:extLst>
              <a:ext uri="{FF2B5EF4-FFF2-40B4-BE49-F238E27FC236}">
                <a16:creationId xmlns:a16="http://schemas.microsoft.com/office/drawing/2014/main" id="{84C47B56-7F74-74B4-D44C-9A07540E11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0638" y="921307"/>
            <a:ext cx="3957796" cy="5936694"/>
          </a:xfrm>
          <a:prstGeom prst="rect">
            <a:avLst/>
          </a:prstGeom>
          <a:effectLst>
            <a:glow rad="1905000">
              <a:schemeClr val="bg1"/>
            </a:glow>
          </a:effectLst>
        </p:spPr>
      </p:pic>
      <p:pic>
        <p:nvPicPr>
          <p:cNvPr id="5" name="Picture 2" descr="Analyst Agent Icon">
            <a:extLst>
              <a:ext uri="{FF2B5EF4-FFF2-40B4-BE49-F238E27FC236}">
                <a16:creationId xmlns:a16="http://schemas.microsoft.com/office/drawing/2014/main" id="{2D060970-0BEE-F29F-69F9-D061811C37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060" t="27697" r="28225" b="62464"/>
          <a:stretch>
            <a:fillRect/>
          </a:stretch>
        </p:blipFill>
        <p:spPr bwMode="auto">
          <a:xfrm>
            <a:off x="563249" y="609638"/>
            <a:ext cx="718125" cy="591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7D75C71C-A481-BB34-4EEF-299577090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1165" y="670578"/>
            <a:ext cx="7531810" cy="553998"/>
          </a:xfrm>
        </p:spPr>
        <p:txBody>
          <a:bodyPr vert="horz" wrap="square" lIns="0" tIns="0" rIns="0" bIns="0" rtlCol="0" anchor="t">
            <a:normAutofit fontScale="90000"/>
          </a:bodyPr>
          <a:lstStyle/>
          <a:p>
            <a:pPr defTabSz="914400"/>
            <a:r>
              <a:rPr lang="en-US">
                <a:gradFill flip="none" rotWithShape="1">
                  <a:gsLst>
                    <a:gs pos="50000">
                      <a:srgbClr val="8661C5"/>
                    </a:gs>
                    <a:gs pos="0">
                      <a:srgbClr val="3E76D4"/>
                    </a:gs>
                    <a:gs pos="100000">
                      <a:srgbClr val="C73ECC"/>
                    </a:gs>
                  </a:gsLst>
                  <a:lin ang="2700000" scaled="1"/>
                  <a:tileRect/>
                </a:gradFill>
                <a:cs typeface="+mn-cs"/>
              </a:rPr>
              <a:t>Analyst agent</a:t>
            </a:r>
          </a:p>
        </p:txBody>
      </p:sp>
      <p:pic>
        <p:nvPicPr>
          <p:cNvPr id="8" name="Picture 7" descr="M365 Copilot Logo">
            <a:extLst>
              <a:ext uri="{FF2B5EF4-FFF2-40B4-BE49-F238E27FC236}">
                <a16:creationId xmlns:a16="http://schemas.microsoft.com/office/drawing/2014/main" id="{5D9BAB7D-F4D6-E290-1B0F-4FF9EFA9D58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0448" y="12528"/>
            <a:ext cx="2611552" cy="1105947"/>
          </a:xfrm>
          <a:prstGeom prst="rect">
            <a:avLst/>
          </a:prstGeom>
        </p:spPr>
      </p:pic>
      <p:sp>
        <p:nvSpPr>
          <p:cNvPr id="3" name="Rounded Rectangle 21">
            <a:extLst>
              <a:ext uri="{FF2B5EF4-FFF2-40B4-BE49-F238E27FC236}">
                <a16:creationId xmlns:a16="http://schemas.microsoft.com/office/drawing/2014/main" id="{8047F9A2-0253-D4B0-B670-0CF9F27DFE00}"/>
              </a:ext>
            </a:extLst>
          </p:cNvPr>
          <p:cNvSpPr/>
          <p:nvPr/>
        </p:nvSpPr>
        <p:spPr bwMode="auto">
          <a:xfrm>
            <a:off x="663740" y="1895141"/>
            <a:ext cx="5838660" cy="4480260"/>
          </a:xfrm>
          <a:prstGeom prst="roundRect">
            <a:avLst>
              <a:gd name="adj" fmla="val 3125"/>
            </a:avLst>
          </a:prstGeom>
          <a:solidFill>
            <a:schemeClr val="bg1">
              <a:alpha val="53000"/>
            </a:schemeClr>
          </a:solidFill>
          <a:ln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82880" tIns="27432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32472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8661C5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What Analyst agent is</a:t>
            </a:r>
          </a:p>
          <a:p>
            <a:pPr marL="171450" marR="0" lvl="0" indent="-171450" algn="l" defTabSz="93247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Calibri" panose="020F0502020204030204" pitchFamily="34" charset="0"/>
              </a:rPr>
              <a:t>A smart assistant that interprets and summarizes your data.</a:t>
            </a:r>
          </a:p>
          <a:p>
            <a:pPr marL="171450" marR="0" lvl="0" indent="-171450" algn="l" defTabSz="93247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Calibri" panose="020F0502020204030204" pitchFamily="34" charset="0"/>
              </a:rPr>
              <a:t>Thinks like a skilled analyst, helping you move from raw numbers to insights quickly.</a:t>
            </a:r>
          </a:p>
          <a:p>
            <a:pPr marL="0" marR="0" lvl="0" indent="0" algn="l" defTabSz="932472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8661C5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What it does</a:t>
            </a:r>
          </a:p>
          <a:p>
            <a:pPr marL="171450" marR="0" lvl="0" indent="-171450" algn="l" defTabSz="93247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Calibri" panose="020F0502020204030204" pitchFamily="34" charset="0"/>
              </a:rPr>
              <a:t>Scans Excel sheets, Word docs, and Power BI dashboards to find insights.</a:t>
            </a:r>
          </a:p>
          <a:p>
            <a:pPr marL="171450" marR="0" lvl="0" indent="-171450" algn="l" defTabSz="93247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Calibri" panose="020F0502020204030204" pitchFamily="34" charset="0"/>
              </a:rPr>
              <a:t>Summarizes data, generates charts, and interprets trends.</a:t>
            </a:r>
          </a:p>
          <a:p>
            <a:pPr marL="171450" marR="0" lvl="0" indent="-171450" algn="l" defTabSz="93247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Calibri" panose="020F0502020204030204" pitchFamily="34" charset="0"/>
              </a:rPr>
              <a:t>Can run Python for advanced data queries and show you the code in real time.</a:t>
            </a:r>
          </a:p>
          <a:p>
            <a:pPr marL="171450" marR="0" lvl="0" indent="-171450" algn="l" defTabSz="93247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Calibri" panose="020F0502020204030204" pitchFamily="34" charset="0"/>
              </a:rPr>
              <a:t>Connects data across Microsoft 365 files you’ve recently worked with.</a:t>
            </a:r>
          </a:p>
          <a:p>
            <a:pPr marL="0" marR="0" lvl="0" indent="0" algn="l" defTabSz="932472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8661C5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How it helps you</a:t>
            </a:r>
          </a:p>
          <a:p>
            <a:pPr marL="171450" marR="0" lvl="0" indent="-171450" algn="l" defTabSz="93247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Calibri" panose="020F0502020204030204" pitchFamily="34" charset="0"/>
              </a:rPr>
              <a:t>Saves time by analyzing and visualizing complex datasets.</a:t>
            </a:r>
          </a:p>
          <a:p>
            <a:pPr marL="171450" marR="0" lvl="0" indent="-171450" algn="l" defTabSz="93247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Calibri" panose="020F0502020204030204" pitchFamily="34" charset="0"/>
              </a:rPr>
              <a:t>Helps you make informed decisions with clear summaries and charts.</a:t>
            </a:r>
          </a:p>
          <a:p>
            <a:pPr marL="171450" marR="0" lvl="0" indent="-171450" algn="l" defTabSz="93247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Calibri" panose="020F0502020204030204" pitchFamily="34" charset="0"/>
              </a:rPr>
              <a:t>References shared documents and presentations to provide complete answers.</a:t>
            </a:r>
          </a:p>
          <a:p>
            <a:pPr marL="0" marR="0" lvl="0" indent="0" algn="l" defTabSz="932472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8661C5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Tips for using it</a:t>
            </a:r>
          </a:p>
          <a:p>
            <a:pPr marL="0" marR="0" lvl="0" indent="0" algn="l" defTabSz="93247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Calibri" panose="020F0502020204030204" pitchFamily="34" charset="0"/>
              </a:rPr>
              <a:t>Analyst respects your file permissions → it only uses data you’re authorized to access.</a:t>
            </a:r>
            <a:endParaRPr kumimoji="0" lang="en-CA" sz="10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Semibold"/>
              <a:ea typeface="+mn-ea"/>
              <a:cs typeface="Calibri" panose="020F0502020204030204" pitchFamily="34" charset="0"/>
            </a:endParaRPr>
          </a:p>
        </p:txBody>
      </p:sp>
      <p:sp>
        <p:nvSpPr>
          <p:cNvPr id="4" name="Rounded Rectangle 14">
            <a:extLst>
              <a:ext uri="{FF2B5EF4-FFF2-40B4-BE49-F238E27FC236}">
                <a16:creationId xmlns:a16="http://schemas.microsoft.com/office/drawing/2014/main" id="{B05563D1-EA11-204A-199D-F4117E7DCB97}"/>
              </a:ext>
            </a:extLst>
          </p:cNvPr>
          <p:cNvSpPr/>
          <p:nvPr/>
        </p:nvSpPr>
        <p:spPr bwMode="auto">
          <a:xfrm>
            <a:off x="2434775" y="1714885"/>
            <a:ext cx="2296589" cy="360512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8661C5"/>
              </a:gs>
              <a:gs pos="60000">
                <a:schemeClr val="accent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  <a:headEnd type="none" w="med" len="med"/>
            <a:tailEnd type="none" w="med" len="med"/>
          </a:ln>
          <a:effectLst>
            <a:outerShdw blurRad="114300" dist="63500" dir="2700000" algn="tl" rotWithShape="0">
              <a:srgbClr val="454142">
                <a:alpha val="2000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36000" tIns="0" rIns="36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 panose="020B0502040204020203" pitchFamily="34" charset="0"/>
                <a:ea typeface="Segoe UI" pitchFamily="34" charset="0"/>
                <a:cs typeface="Segoe UI Semibold" panose="020B0502040204020203" pitchFamily="34" charset="0"/>
              </a:rPr>
              <a:t>About this agent</a:t>
            </a:r>
          </a:p>
        </p:txBody>
      </p:sp>
    </p:spTree>
    <p:extLst>
      <p:ext uri="{BB962C8B-B14F-4D97-AF65-F5344CB8AC3E}">
        <p14:creationId xmlns:p14="http://schemas.microsoft.com/office/powerpoint/2010/main" val="1722032785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27D1C-C811-A5A0-EEE6-5C90C0D2D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hoto of a person crossing their arms">
            <a:extLst>
              <a:ext uri="{FF2B5EF4-FFF2-40B4-BE49-F238E27FC236}">
                <a16:creationId xmlns:a16="http://schemas.microsoft.com/office/drawing/2014/main" id="{716305DF-5BA3-F5CA-4EAE-9872D22807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5849" y="1192205"/>
            <a:ext cx="3777195" cy="5665793"/>
          </a:xfrm>
          <a:prstGeom prst="rect">
            <a:avLst/>
          </a:prstGeom>
          <a:effectLst>
            <a:glow rad="1905000">
              <a:schemeClr val="bg1"/>
            </a:glow>
          </a:effec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746486A-2AC4-9861-E2E5-EA01D1D065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5052" y="565501"/>
            <a:ext cx="626706" cy="626704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A419E64C-5C9F-E5ED-D67F-B8274E056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1165" y="670578"/>
            <a:ext cx="7531810" cy="553998"/>
          </a:xfrm>
        </p:spPr>
        <p:txBody>
          <a:bodyPr vert="horz" wrap="square" lIns="0" tIns="0" rIns="0" bIns="0" rtlCol="0" anchor="t">
            <a:normAutofit fontScale="90000"/>
          </a:bodyPr>
          <a:lstStyle/>
          <a:p>
            <a:pPr defTabSz="914400"/>
            <a:r>
              <a:rPr lang="en-US">
                <a:gradFill flip="none" rotWithShape="1">
                  <a:gsLst>
                    <a:gs pos="50000">
                      <a:srgbClr val="8661C5"/>
                    </a:gs>
                    <a:gs pos="0">
                      <a:srgbClr val="3E76D4"/>
                    </a:gs>
                    <a:gs pos="100000">
                      <a:srgbClr val="C73ECC"/>
                    </a:gs>
                  </a:gsLst>
                  <a:lin ang="2700000" scaled="1"/>
                  <a:tileRect/>
                </a:gradFill>
                <a:cs typeface="+mn-cs"/>
              </a:rPr>
              <a:t>Prompt Coach agent</a:t>
            </a:r>
          </a:p>
        </p:txBody>
      </p:sp>
      <p:pic>
        <p:nvPicPr>
          <p:cNvPr id="8" name="Picture 7" descr="M365 Copilot Logo">
            <a:extLst>
              <a:ext uri="{FF2B5EF4-FFF2-40B4-BE49-F238E27FC236}">
                <a16:creationId xmlns:a16="http://schemas.microsoft.com/office/drawing/2014/main" id="{FA1ADCCA-17F7-AA7C-2D3A-1184121EC6D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0448" y="12528"/>
            <a:ext cx="2611552" cy="1105947"/>
          </a:xfrm>
          <a:prstGeom prst="rect">
            <a:avLst/>
          </a:prstGeom>
        </p:spPr>
      </p:pic>
      <p:sp>
        <p:nvSpPr>
          <p:cNvPr id="6" name="Rounded Rectangle 21">
            <a:extLst>
              <a:ext uri="{FF2B5EF4-FFF2-40B4-BE49-F238E27FC236}">
                <a16:creationId xmlns:a16="http://schemas.microsoft.com/office/drawing/2014/main" id="{A6E4084F-BA1B-F3EB-DD12-21B0DC2D8228}"/>
              </a:ext>
            </a:extLst>
          </p:cNvPr>
          <p:cNvSpPr/>
          <p:nvPr/>
        </p:nvSpPr>
        <p:spPr bwMode="auto">
          <a:xfrm>
            <a:off x="663740" y="1895140"/>
            <a:ext cx="5838660" cy="4525979"/>
          </a:xfrm>
          <a:prstGeom prst="roundRect">
            <a:avLst>
              <a:gd name="adj" fmla="val 3125"/>
            </a:avLst>
          </a:prstGeom>
          <a:solidFill>
            <a:schemeClr val="bg1">
              <a:alpha val="53000"/>
            </a:schemeClr>
          </a:solidFill>
          <a:ln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82880" tIns="27432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32472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8661C5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What Prompt Coach agent is</a:t>
            </a:r>
          </a:p>
          <a:p>
            <a:pPr marL="171450" marR="0" lvl="0" indent="-171450" algn="l" defTabSz="93247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Calibri" panose="020F0502020204030204" pitchFamily="34" charset="0"/>
              </a:rPr>
              <a:t>A guide to writing clearer, more effective prompts.</a:t>
            </a:r>
          </a:p>
          <a:p>
            <a:pPr marL="171450" marR="0" lvl="0" indent="-171450" algn="l" defTabSz="93247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Calibri" panose="020F0502020204030204" pitchFamily="34" charset="0"/>
              </a:rPr>
              <a:t>Helps you get the best results out of Microsoft 365 Copilot.</a:t>
            </a:r>
          </a:p>
          <a:p>
            <a:pPr marL="0" marR="0" lvl="0" indent="0" algn="l" defTabSz="932472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8661C5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What it does</a:t>
            </a:r>
          </a:p>
          <a:p>
            <a:pPr marL="171450" marR="0" lvl="0" indent="-171450" algn="l" defTabSz="93247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Calibri" panose="020F0502020204030204" pitchFamily="34" charset="0"/>
              </a:rPr>
              <a:t>Refines unclear prompts into specific, action-focused instructions.</a:t>
            </a:r>
          </a:p>
          <a:p>
            <a:pPr marL="171450" marR="0" lvl="0" indent="-171450" algn="l" defTabSz="93247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Calibri" panose="020F0502020204030204" pitchFamily="34" charset="0"/>
              </a:rPr>
              <a:t>Suggests patterns and examples tailored to your task (writing, data analysis, brainstorming, etc.).</a:t>
            </a:r>
          </a:p>
          <a:p>
            <a:pPr marL="171450" marR="0" lvl="0" indent="-171450" algn="l" defTabSz="93247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Calibri" panose="020F0502020204030204" pitchFamily="34" charset="0"/>
              </a:rPr>
              <a:t>Troubleshoots when Copilot doesn’t deliver the expected results.</a:t>
            </a:r>
          </a:p>
          <a:p>
            <a:pPr marL="0" marR="0" lvl="0" indent="0" algn="l" defTabSz="932472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8661C5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How it helps you</a:t>
            </a:r>
          </a:p>
          <a:p>
            <a:pPr marL="171450" marR="0" lvl="0" indent="-171450" algn="l" defTabSz="93247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Calibri" panose="020F0502020204030204" pitchFamily="34" charset="0"/>
              </a:rPr>
              <a:t>Builds your confidence in prompting across Word, Excel, Teams, and more.</a:t>
            </a:r>
          </a:p>
          <a:p>
            <a:pPr marL="171450" marR="0" lvl="0" indent="-171450" algn="l" defTabSz="93247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Calibri" panose="020F0502020204030204" pitchFamily="34" charset="0"/>
              </a:rPr>
              <a:t>Makes it easier to experiment with new ways of asking questions.</a:t>
            </a:r>
          </a:p>
          <a:p>
            <a:pPr marL="171450" marR="0" lvl="0" indent="-171450" algn="l" defTabSz="93247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Calibri" panose="020F0502020204030204" pitchFamily="34" charset="0"/>
              </a:rPr>
              <a:t>Ensures Copilot understands what you really need.</a:t>
            </a:r>
          </a:p>
          <a:p>
            <a:pPr marL="0" marR="0" lvl="0" indent="0" algn="l" defTabSz="932472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8661C5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Tips for using it</a:t>
            </a:r>
          </a:p>
          <a:p>
            <a:pPr marL="0" marR="0" lvl="0" indent="0" algn="l" defTabSz="93247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Calibri" panose="020F0502020204030204" pitchFamily="34" charset="0"/>
              </a:rPr>
              <a:t>If your prompt feels vague, ask Prompt Coach to suggest improvements or offer a clearer version.</a:t>
            </a:r>
            <a:endParaRPr kumimoji="0" lang="en-CA" sz="10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Semibold"/>
              <a:ea typeface="+mn-ea"/>
              <a:cs typeface="Calibri" panose="020F0502020204030204" pitchFamily="34" charset="0"/>
            </a:endParaRPr>
          </a:p>
        </p:txBody>
      </p:sp>
      <p:sp>
        <p:nvSpPr>
          <p:cNvPr id="7" name="Rounded Rectangle 14">
            <a:extLst>
              <a:ext uri="{FF2B5EF4-FFF2-40B4-BE49-F238E27FC236}">
                <a16:creationId xmlns:a16="http://schemas.microsoft.com/office/drawing/2014/main" id="{1975CC29-5109-26CE-C8A0-1145F2A4413F}"/>
              </a:ext>
            </a:extLst>
          </p:cNvPr>
          <p:cNvSpPr/>
          <p:nvPr/>
        </p:nvSpPr>
        <p:spPr bwMode="auto">
          <a:xfrm>
            <a:off x="2434775" y="1714885"/>
            <a:ext cx="2296589" cy="360512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8661C5"/>
              </a:gs>
              <a:gs pos="60000">
                <a:schemeClr val="accent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  <a:headEnd type="none" w="med" len="med"/>
            <a:tailEnd type="none" w="med" len="med"/>
          </a:ln>
          <a:effectLst>
            <a:outerShdw blurRad="114300" dist="63500" dir="2700000" algn="tl" rotWithShape="0">
              <a:srgbClr val="454142">
                <a:alpha val="2000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36000" tIns="0" rIns="36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 panose="020B0502040204020203" pitchFamily="34" charset="0"/>
                <a:ea typeface="Segoe UI" pitchFamily="34" charset="0"/>
                <a:cs typeface="Segoe UI Semibold" panose="020B0502040204020203" pitchFamily="34" charset="0"/>
              </a:rPr>
              <a:t>About this agent</a:t>
            </a:r>
          </a:p>
        </p:txBody>
      </p:sp>
    </p:spTree>
    <p:extLst>
      <p:ext uri="{BB962C8B-B14F-4D97-AF65-F5344CB8AC3E}">
        <p14:creationId xmlns:p14="http://schemas.microsoft.com/office/powerpoint/2010/main" val="2359551839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A7DE1-78FD-640E-B1DC-C0AD4F7F2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enerated image">
            <a:extLst>
              <a:ext uri="{FF2B5EF4-FFF2-40B4-BE49-F238E27FC236}">
                <a16:creationId xmlns:a16="http://schemas.microsoft.com/office/drawing/2014/main" id="{62E253EE-D95B-4066-132A-E73950C0F3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1468" y="853481"/>
            <a:ext cx="4003013" cy="6004520"/>
          </a:xfrm>
          <a:prstGeom prst="rect">
            <a:avLst/>
          </a:prstGeom>
          <a:effectLst>
            <a:glow rad="1905000">
              <a:schemeClr val="bg1"/>
            </a:glo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BE2BF89-5EA5-ADA5-FF6F-CCBFD005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5052" y="565501"/>
            <a:ext cx="626706" cy="626704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BAF665F4-BEFF-FACD-28EF-1785F4F79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1165" y="670578"/>
            <a:ext cx="7531810" cy="553998"/>
          </a:xfrm>
        </p:spPr>
        <p:txBody>
          <a:bodyPr vert="horz" wrap="square" lIns="0" tIns="0" rIns="0" bIns="0" rtlCol="0" anchor="t">
            <a:normAutofit fontScale="90000"/>
          </a:bodyPr>
          <a:lstStyle/>
          <a:p>
            <a:pPr defTabSz="914400"/>
            <a:r>
              <a:rPr lang="en-US">
                <a:gradFill flip="none" rotWithShape="1">
                  <a:gsLst>
                    <a:gs pos="50000">
                      <a:srgbClr val="8661C5"/>
                    </a:gs>
                    <a:gs pos="0">
                      <a:srgbClr val="3E76D4"/>
                    </a:gs>
                    <a:gs pos="100000">
                      <a:srgbClr val="C73ECC"/>
                    </a:gs>
                  </a:gsLst>
                  <a:lin ang="2700000" scaled="1"/>
                  <a:tileRect/>
                </a:gradFill>
                <a:cs typeface="+mn-cs"/>
              </a:rPr>
              <a:t>Idea Coach agent</a:t>
            </a:r>
          </a:p>
        </p:txBody>
      </p:sp>
      <p:pic>
        <p:nvPicPr>
          <p:cNvPr id="8" name="Picture 7" descr="M365 Copilot Logo">
            <a:extLst>
              <a:ext uri="{FF2B5EF4-FFF2-40B4-BE49-F238E27FC236}">
                <a16:creationId xmlns:a16="http://schemas.microsoft.com/office/drawing/2014/main" id="{407FE666-9B6B-8EDF-CC85-0714A568593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0448" y="12528"/>
            <a:ext cx="2611552" cy="1105947"/>
          </a:xfrm>
          <a:prstGeom prst="rect">
            <a:avLst/>
          </a:prstGeom>
        </p:spPr>
      </p:pic>
      <p:sp>
        <p:nvSpPr>
          <p:cNvPr id="3" name="Rounded Rectangle 21">
            <a:extLst>
              <a:ext uri="{FF2B5EF4-FFF2-40B4-BE49-F238E27FC236}">
                <a16:creationId xmlns:a16="http://schemas.microsoft.com/office/drawing/2014/main" id="{CC5A6EDA-D7C2-F03E-12F4-898B2BF145E4}"/>
              </a:ext>
            </a:extLst>
          </p:cNvPr>
          <p:cNvSpPr/>
          <p:nvPr/>
        </p:nvSpPr>
        <p:spPr bwMode="auto">
          <a:xfrm>
            <a:off x="663740" y="1895141"/>
            <a:ext cx="5269811" cy="4169109"/>
          </a:xfrm>
          <a:prstGeom prst="roundRect">
            <a:avLst>
              <a:gd name="adj" fmla="val 3125"/>
            </a:avLst>
          </a:prstGeom>
          <a:solidFill>
            <a:schemeClr val="bg1">
              <a:alpha val="53000"/>
            </a:schemeClr>
          </a:solidFill>
          <a:ln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82880" tIns="27432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32472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8661C5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What Idea Coach agent is</a:t>
            </a:r>
          </a:p>
          <a:p>
            <a:pPr marL="171450" marR="0" lvl="0" indent="-171450" algn="l" defTabSz="93247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Calibri" panose="020F0502020204030204" pitchFamily="34" charset="0"/>
              </a:rPr>
              <a:t>A smart sounding board that strengthens your thinking.</a:t>
            </a:r>
          </a:p>
          <a:p>
            <a:pPr marL="171450" marR="0" lvl="0" indent="-171450" algn="l" defTabSz="93247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Calibri" panose="020F0502020204030204" pitchFamily="34" charset="0"/>
              </a:rPr>
              <a:t>Helps refine, expand, and challenge your ideas.</a:t>
            </a:r>
          </a:p>
          <a:p>
            <a:pPr marL="0" marR="0" lvl="0" indent="0" algn="l" defTabSz="932472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8661C5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What it does</a:t>
            </a:r>
          </a:p>
          <a:p>
            <a:pPr marL="171450" marR="0" lvl="0" indent="-171450" algn="l" defTabSz="93247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Calibri" panose="020F0502020204030204" pitchFamily="34" charset="0"/>
              </a:rPr>
              <a:t>Evaluates a plan from multiple perspectives.</a:t>
            </a:r>
          </a:p>
          <a:p>
            <a:pPr marL="171450" marR="0" lvl="0" indent="-171450" algn="l" defTabSz="93247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Calibri" panose="020F0502020204030204" pitchFamily="34" charset="0"/>
              </a:rPr>
              <a:t>Explores alternatives and finds the strongest version of your idea.</a:t>
            </a:r>
          </a:p>
          <a:p>
            <a:pPr marL="171450" marR="0" lvl="0" indent="-171450" algn="l" defTabSz="93247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Calibri" panose="020F0502020204030204" pitchFamily="34" charset="0"/>
              </a:rPr>
              <a:t>Improves clarity, confidence, and impact of your message.</a:t>
            </a:r>
          </a:p>
          <a:p>
            <a:pPr marL="0" marR="0" lvl="0" indent="0" algn="l" defTabSz="932472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8661C5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How it helps you</a:t>
            </a:r>
          </a:p>
          <a:p>
            <a:pPr marL="171450" marR="0" lvl="0" indent="-171450" algn="l" defTabSz="93247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Calibri" panose="020F0502020204030204" pitchFamily="34" charset="0"/>
              </a:rPr>
              <a:t>Refines early-stage concepts into actionable plans.</a:t>
            </a:r>
          </a:p>
          <a:p>
            <a:pPr marL="171450" marR="0" lvl="0" indent="-171450" algn="l" defTabSz="93247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Calibri" panose="020F0502020204030204" pitchFamily="34" charset="0"/>
              </a:rPr>
              <a:t>Stress-tests proposals to identify risks, gaps, or blind spots.</a:t>
            </a:r>
          </a:p>
          <a:p>
            <a:pPr marL="171450" marR="0" lvl="0" indent="-171450" algn="l" defTabSz="93247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Calibri" panose="020F0502020204030204" pitchFamily="34" charset="0"/>
              </a:rPr>
              <a:t>Expands on creative ideas for projects, campaigns, or initiatives.</a:t>
            </a:r>
          </a:p>
          <a:p>
            <a:pPr marL="171450" marR="0" lvl="0" indent="-171450" algn="l" defTabSz="93247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Calibri" panose="020F0502020204030204" pitchFamily="34" charset="0"/>
              </a:rPr>
              <a:t>Reworks messaging to make it clearer and more compelling.</a:t>
            </a:r>
          </a:p>
          <a:p>
            <a:pPr marL="171450" marR="0" lvl="0" indent="-171450" algn="l" defTabSz="93247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Calibri" panose="020F0502020204030204" pitchFamily="34" charset="0"/>
              </a:rPr>
              <a:t>Explores implications and potential impact of decisions.</a:t>
            </a:r>
          </a:p>
        </p:txBody>
      </p:sp>
      <p:sp>
        <p:nvSpPr>
          <p:cNvPr id="4" name="Rounded Rectangle 14">
            <a:extLst>
              <a:ext uri="{FF2B5EF4-FFF2-40B4-BE49-F238E27FC236}">
                <a16:creationId xmlns:a16="http://schemas.microsoft.com/office/drawing/2014/main" id="{2230B8E5-9FFF-F5BE-0B10-003388476F72}"/>
              </a:ext>
            </a:extLst>
          </p:cNvPr>
          <p:cNvSpPr/>
          <p:nvPr/>
        </p:nvSpPr>
        <p:spPr bwMode="auto">
          <a:xfrm>
            <a:off x="2150350" y="1714885"/>
            <a:ext cx="2296589" cy="360512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8661C5"/>
              </a:gs>
              <a:gs pos="60000">
                <a:schemeClr val="accent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  <a:headEnd type="none" w="med" len="med"/>
            <a:tailEnd type="none" w="med" len="med"/>
          </a:ln>
          <a:effectLst>
            <a:outerShdw blurRad="114300" dist="63500" dir="2700000" algn="tl" rotWithShape="0">
              <a:srgbClr val="454142">
                <a:alpha val="2000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36000" tIns="0" rIns="36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 panose="020B0502040204020203" pitchFamily="34" charset="0"/>
                <a:ea typeface="Segoe UI" pitchFamily="34" charset="0"/>
                <a:cs typeface="Segoe UI Semibold" panose="020B0502040204020203" pitchFamily="34" charset="0"/>
              </a:rPr>
              <a:t>About this agent</a:t>
            </a:r>
          </a:p>
        </p:txBody>
      </p:sp>
    </p:spTree>
    <p:extLst>
      <p:ext uri="{BB962C8B-B14F-4D97-AF65-F5344CB8AC3E}">
        <p14:creationId xmlns:p14="http://schemas.microsoft.com/office/powerpoint/2010/main" val="734375370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F1571-1FFC-3E0E-1F99-92A30533B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1" name="Picture 3" descr="Generated image">
            <a:extLst>
              <a:ext uri="{FF2B5EF4-FFF2-40B4-BE49-F238E27FC236}">
                <a16:creationId xmlns:a16="http://schemas.microsoft.com/office/drawing/2014/main" id="{36559215-7B6E-6104-650B-EB750CDF71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4376" y="1024390"/>
            <a:ext cx="3889074" cy="5833610"/>
          </a:xfrm>
          <a:prstGeom prst="rect">
            <a:avLst/>
          </a:prstGeom>
          <a:effectLst>
            <a:glow rad="1905000">
              <a:schemeClr val="bg1"/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46B811B-437B-75AE-6319-92BA32C6FC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5052" y="565501"/>
            <a:ext cx="626706" cy="626704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2BFBF1EA-126A-1278-9610-799822382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1165" y="670578"/>
            <a:ext cx="7531810" cy="553998"/>
          </a:xfrm>
        </p:spPr>
        <p:txBody>
          <a:bodyPr vert="horz" wrap="square" lIns="0" tIns="0" rIns="0" bIns="0" rtlCol="0" anchor="t">
            <a:normAutofit fontScale="90000"/>
          </a:bodyPr>
          <a:lstStyle/>
          <a:p>
            <a:pPr defTabSz="914400"/>
            <a:r>
              <a:rPr lang="en-US">
                <a:gradFill flip="none" rotWithShape="1">
                  <a:gsLst>
                    <a:gs pos="50000">
                      <a:srgbClr val="8661C5"/>
                    </a:gs>
                    <a:gs pos="0">
                      <a:srgbClr val="3E76D4"/>
                    </a:gs>
                    <a:gs pos="100000">
                      <a:srgbClr val="C73ECC"/>
                    </a:gs>
                  </a:gsLst>
                  <a:lin ang="2700000" scaled="1"/>
                  <a:tileRect/>
                </a:gradFill>
                <a:cs typeface="+mn-cs"/>
              </a:rPr>
              <a:t>Writing Coach agent</a:t>
            </a:r>
          </a:p>
        </p:txBody>
      </p:sp>
      <p:pic>
        <p:nvPicPr>
          <p:cNvPr id="8" name="Picture 7" descr="M365 Copilot Logo">
            <a:extLst>
              <a:ext uri="{FF2B5EF4-FFF2-40B4-BE49-F238E27FC236}">
                <a16:creationId xmlns:a16="http://schemas.microsoft.com/office/drawing/2014/main" id="{A1B3DABD-1D71-D149-4593-69F8C1E18C2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0448" y="12528"/>
            <a:ext cx="2611552" cy="1105947"/>
          </a:xfrm>
          <a:prstGeom prst="rect">
            <a:avLst/>
          </a:prstGeom>
        </p:spPr>
      </p:pic>
      <p:sp>
        <p:nvSpPr>
          <p:cNvPr id="3" name="Rounded Rectangle 21">
            <a:extLst>
              <a:ext uri="{FF2B5EF4-FFF2-40B4-BE49-F238E27FC236}">
                <a16:creationId xmlns:a16="http://schemas.microsoft.com/office/drawing/2014/main" id="{42733D85-F4FE-37A3-C5C0-B295DBBEABA6}"/>
              </a:ext>
            </a:extLst>
          </p:cNvPr>
          <p:cNvSpPr/>
          <p:nvPr/>
        </p:nvSpPr>
        <p:spPr bwMode="auto">
          <a:xfrm>
            <a:off x="663740" y="1895141"/>
            <a:ext cx="5269811" cy="4382830"/>
          </a:xfrm>
          <a:prstGeom prst="roundRect">
            <a:avLst>
              <a:gd name="adj" fmla="val 3125"/>
            </a:avLst>
          </a:prstGeom>
          <a:solidFill>
            <a:schemeClr val="bg1">
              <a:alpha val="53000"/>
            </a:schemeClr>
          </a:solidFill>
          <a:ln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82880" tIns="27432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32472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8661C5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What Writing Coach agent is</a:t>
            </a:r>
          </a:p>
          <a:p>
            <a:pPr marL="171450" marR="0" lvl="0" indent="-171450" algn="l" defTabSz="93247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Calibri" panose="020F0502020204030204" pitchFamily="34" charset="0"/>
              </a:rPr>
              <a:t>Helps you craft better, more impactful content across emails, reports, presentations, and more.</a:t>
            </a:r>
          </a:p>
          <a:p>
            <a:pPr marL="171450" marR="0" lvl="0" indent="-171450" algn="l" defTabSz="93247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Calibri" panose="020F0502020204030204" pitchFamily="34" charset="0"/>
              </a:rPr>
              <a:t>Optimized for professional writing refinement.</a:t>
            </a:r>
          </a:p>
          <a:p>
            <a:pPr marL="0" marR="0" lvl="0" indent="0" algn="l" defTabSz="932472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8661C5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What it does</a:t>
            </a:r>
          </a:p>
          <a:p>
            <a:pPr marL="171450" marR="0" lvl="0" indent="-171450" algn="l" defTabSz="93247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Calibri" panose="020F0502020204030204" pitchFamily="34" charset="0"/>
              </a:rPr>
              <a:t>Improves clarity, structure, and tone.</a:t>
            </a:r>
          </a:p>
          <a:p>
            <a:pPr marL="171450" marR="0" lvl="0" indent="-171450" algn="l" defTabSz="93247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Calibri" panose="020F0502020204030204" pitchFamily="34" charset="0"/>
              </a:rPr>
              <a:t>Refines drafts for readability.</a:t>
            </a:r>
          </a:p>
          <a:p>
            <a:pPr marL="171450" marR="0" lvl="0" indent="-171450" algn="l" defTabSz="93247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Calibri" panose="020F0502020204030204" pitchFamily="34" charset="0"/>
              </a:rPr>
              <a:t>Generates ideas for intros, conclusions, or transitions.</a:t>
            </a:r>
          </a:p>
          <a:p>
            <a:pPr marL="171450" marR="0" lvl="0" indent="-171450" algn="l" defTabSz="93247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Calibri" panose="020F0502020204030204" pitchFamily="34" charset="0"/>
              </a:rPr>
              <a:t>Suggests ways to make writing more persuasive and engaging.</a:t>
            </a:r>
          </a:p>
          <a:p>
            <a:pPr marL="171450" marR="0" lvl="0" indent="-171450" algn="l" defTabSz="93247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Calibri" panose="020F0502020204030204" pitchFamily="34" charset="0"/>
              </a:rPr>
              <a:t>Checks consistency in style, format, and punctuation.</a:t>
            </a:r>
          </a:p>
          <a:p>
            <a:pPr marL="171450" marR="0" lvl="0" indent="-171450" algn="l" defTabSz="93247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Calibri" panose="020F0502020204030204" pitchFamily="34" charset="0"/>
              </a:rPr>
              <a:t>Adapts writing for different audiences or communication goals.</a:t>
            </a:r>
          </a:p>
          <a:p>
            <a:pPr marL="0" marR="0" lvl="0" indent="0" algn="l" defTabSz="932472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8661C5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How it helps you</a:t>
            </a:r>
          </a:p>
          <a:p>
            <a:pPr marL="171450" marR="0" lvl="0" indent="-171450" algn="l" defTabSz="93247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Calibri" panose="020F0502020204030204" pitchFamily="34" charset="0"/>
              </a:rPr>
              <a:t>Elevates rough drafts into polished, audience-ready writing.</a:t>
            </a:r>
          </a:p>
          <a:p>
            <a:pPr marL="171450" marR="0" lvl="0" indent="-171450" algn="l" defTabSz="93247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Calibri" panose="020F0502020204030204" pitchFamily="34" charset="0"/>
              </a:rPr>
              <a:t>Enhances flow while preserving your unique voice and intent.</a:t>
            </a:r>
          </a:p>
        </p:txBody>
      </p:sp>
      <p:sp>
        <p:nvSpPr>
          <p:cNvPr id="4" name="Rounded Rectangle 14">
            <a:extLst>
              <a:ext uri="{FF2B5EF4-FFF2-40B4-BE49-F238E27FC236}">
                <a16:creationId xmlns:a16="http://schemas.microsoft.com/office/drawing/2014/main" id="{47EAE122-99E6-CC96-75A2-8648CF989716}"/>
              </a:ext>
            </a:extLst>
          </p:cNvPr>
          <p:cNvSpPr/>
          <p:nvPr/>
        </p:nvSpPr>
        <p:spPr bwMode="auto">
          <a:xfrm>
            <a:off x="2150350" y="1714885"/>
            <a:ext cx="2296589" cy="360512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8661C5"/>
              </a:gs>
              <a:gs pos="60000">
                <a:schemeClr val="accent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  <a:headEnd type="none" w="med" len="med"/>
            <a:tailEnd type="none" w="med" len="med"/>
          </a:ln>
          <a:effectLst>
            <a:outerShdw blurRad="114300" dist="63500" dir="2700000" algn="tl" rotWithShape="0">
              <a:srgbClr val="454142">
                <a:alpha val="2000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36000" tIns="0" rIns="36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 panose="020B0502040204020203" pitchFamily="34" charset="0"/>
                <a:ea typeface="Segoe UI" pitchFamily="34" charset="0"/>
                <a:cs typeface="Segoe UI Semibold" panose="020B0502040204020203" pitchFamily="34" charset="0"/>
              </a:rPr>
              <a:t>About this agent</a:t>
            </a:r>
          </a:p>
        </p:txBody>
      </p:sp>
    </p:spTree>
    <p:extLst>
      <p:ext uri="{BB962C8B-B14F-4D97-AF65-F5344CB8AC3E}">
        <p14:creationId xmlns:p14="http://schemas.microsoft.com/office/powerpoint/2010/main" val="2886200970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2177</Words>
  <Application>Microsoft Office PowerPoint</Application>
  <PresentationFormat>Widescreen</PresentationFormat>
  <Paragraphs>281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8" baseType="lpstr">
      <vt:lpstr>Aptos</vt:lpstr>
      <vt:lpstr>Aptos Display</vt:lpstr>
      <vt:lpstr>Arial</vt:lpstr>
      <vt:lpstr>Segoe Sans Display</vt:lpstr>
      <vt:lpstr>Segoe Sans Display Semibold</vt:lpstr>
      <vt:lpstr>Segoe UI</vt:lpstr>
      <vt:lpstr>Segoe UI Semibold</vt:lpstr>
      <vt:lpstr>Symbol</vt:lpstr>
      <vt:lpstr>Wingdings</vt:lpstr>
      <vt:lpstr>Office Theme</vt:lpstr>
      <vt:lpstr>Microsoft 365 pre-built agents</vt:lpstr>
      <vt:lpstr>Microsoft pre-built agents</vt:lpstr>
      <vt:lpstr>Prebuilt agents</vt:lpstr>
      <vt:lpstr>Researcher agent</vt:lpstr>
      <vt:lpstr>Analyst agent</vt:lpstr>
      <vt:lpstr>Prompt Coach agent</vt:lpstr>
      <vt:lpstr>Idea Coach agent</vt:lpstr>
      <vt:lpstr>Writing Coach agent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Mishal</dc:creator>
  <cp:lastModifiedBy>Michael Mishal</cp:lastModifiedBy>
  <cp:revision>1</cp:revision>
  <dcterms:created xsi:type="dcterms:W3CDTF">2026-09-23T16:38:08Z</dcterms:created>
  <dcterms:modified xsi:type="dcterms:W3CDTF">2026-09-23T16:38:12Z</dcterms:modified>
</cp:coreProperties>
</file>